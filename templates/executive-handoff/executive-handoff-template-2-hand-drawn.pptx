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-hand-drawn-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22960"/>
            <a:ext cx="5212080" cy="521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1874519"/>
            <a:ext cx="1463040" cy="50800"/>
          </a:xfrm>
          <a:prstGeom prst="rect">
            <a:avLst/>
          </a:prstGeom>
          <a:solidFill>
            <a:srgbClr val="C4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6035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252C3B"/>
                </a:solidFill>
                <a:latin typeface="Georgia"/>
              </a:rPr>
              <a:t>Executive Handoff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1">
                <a:solidFill>
                  <a:srgbClr val="C45A2A"/>
                </a:solidFill>
                <a:latin typeface="Georgia"/>
              </a:rPr>
              <a:t>[Plan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E706C"/>
                </a:solidFill>
                <a:latin typeface="Calibri"/>
              </a:rPr>
              <a:t>Overview of the Corporate Retirement Plan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06C"/>
                </a:solidFill>
                <a:latin typeface="Calibri"/>
              </a:rPr>
              <a:t>[Presenter Name]  •  [Date]  •  Transamerica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Executive Overview</a:t>
            </a:r>
          </a:p>
        </p:txBody>
      </p:sp>
      <p:pic>
        <p:nvPicPr>
          <p:cNvPr id="5" name="Picture 4" descr="2-hand-drawn--executiv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[One-paragraph executive summary of the plan transition]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[Business context: why this handoff is happening now]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[Headline outcomes achieved to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[What the incoming owner needs to know first]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Project Status</a:t>
            </a:r>
          </a:p>
        </p:txBody>
      </p:sp>
      <p:pic>
        <p:nvPicPr>
          <p:cNvPr id="5" name="Picture 4" descr="2-hand-drawn--project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[Current status: On Track / At Risk / Off Track]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[Percent complete and current phase]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[Work completed this period]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[Work planned for next period]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Project Scope</a:t>
            </a:r>
          </a:p>
        </p:txBody>
      </p:sp>
      <p:pic>
        <p:nvPicPr>
          <p:cNvPr id="5" name="Picture 4" descr="2-hand-drawn--project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[In scope: services, plans, and populations covered]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[Out of scope: explicitly excluded items]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[Key assumptions and dependencies]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[Approved scope changes to date]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Milestones</a:t>
            </a:r>
          </a:p>
        </p:txBody>
      </p:sp>
      <p:pic>
        <p:nvPicPr>
          <p:cNvPr id="5" name="Picture 4" descr="2-hand-drawn--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[Milestone 1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[Milestone 2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[Milestone 3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[Milestone 4 — target date — status]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Work Stream Status</a:t>
            </a:r>
          </a:p>
        </p:txBody>
      </p:sp>
      <p:pic>
        <p:nvPicPr>
          <p:cNvPr id="5" name="Picture 4" descr="2-hand-drawn--work-stream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[Work stream A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[Work stream B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[Work stream C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[Work stream D — owner — status — next step]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Major Decisions</a:t>
            </a:r>
          </a:p>
        </p:txBody>
      </p:sp>
      <p:pic>
        <p:nvPicPr>
          <p:cNvPr id="5" name="Picture 4" descr="2-hand-drawn--major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[Decision 1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[Decision 2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[Decision 3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[Open decisions awaiting resolution]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Risk Overview</a:t>
            </a:r>
          </a:p>
        </p:txBody>
      </p:sp>
      <p:pic>
        <p:nvPicPr>
          <p:cNvPr id="5" name="Picture 4" descr="2-hand-drawn--risk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[Risk 1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[Risk 2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[Risk 3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[Escalation path for new risks]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Stakeholder Review</a:t>
            </a:r>
          </a:p>
        </p:txBody>
      </p:sp>
      <p:pic>
        <p:nvPicPr>
          <p:cNvPr id="5" name="Picture 4" descr="2-hand-drawn--stakeholde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[Stakeholder / team — role in the plan — engagement level]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[Key contacts and communication cadence]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[Outstanding stakeholder concerns]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[Approvals and sign-offs received]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Immediate Priorities</a:t>
            </a:r>
          </a:p>
        </p:txBody>
      </p:sp>
      <p:pic>
        <p:nvPicPr>
          <p:cNvPr id="5" name="Picture 4" descr="2-hand-drawn--immediate-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[Priority 1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[Priority 2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[Priority 3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[First 30 / 60 / 90 day focus]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1384280" cy="5788152"/>
          </a:xfrm>
          <a:prstGeom prst="rect">
            <a:avLst/>
          </a:prstGeom>
          <a:noFill/>
          <a:ln w="19050">
            <a:solidFill>
              <a:srgbClr val="25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45A2A"/>
                </a:solidFill>
                <a:latin typeface="Calibri"/>
              </a:rP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52C3B"/>
                </a:solidFill>
                <a:latin typeface="Georgia"/>
              </a:rPr>
              <a:t>Lessons Learned</a:t>
            </a:r>
          </a:p>
        </p:txBody>
      </p:sp>
      <p:pic>
        <p:nvPicPr>
          <p:cNvPr id="5" name="Picture 4" descr="2-hand-drawn--lessons-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noFill/>
          <a:ln w="12700">
            <a:solidFill>
              <a:srgbClr val="6E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[What worked well and should be repeated]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[What did not work and why]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[Process improvements recommended]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52C3B"/>
                </a:solidFill>
                <a:latin typeface="Calibri"/>
              </a:rPr>
              <a:t>•  [Advice for the next plan transition]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06C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706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