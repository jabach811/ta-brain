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($M)</c:v>
                </c:pt>
              </c:strCache>
            </c:strRef>
          </c:tx>
          <c:spPr>
            <a:solidFill>
              <a:srgbClr val="3645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3645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Q3 '24</c:v>
                  </c:pt>
                  <c:pt idx="1">
                    <c:v>Q4 '24</c:v>
                  </c:pt>
                  <c:pt idx="2">
                    <c:v>Q1 '25</c:v>
                  </c:pt>
                  <c:pt idx="3">
                    <c:v>Q2 '25</c:v>
                  </c:pt>
                  <c:pt idx="4">
                    <c:v>Q3 '25</c:v>
                  </c:pt>
                  <c:pt idx="5">
                    <c:v>Q4 '25</c:v>
                  </c:pt>
                  <c:pt idx="6">
                    <c:v>Q1 '26</c:v>
                  </c:pt>
                  <c:pt idx="7">
                    <c:v>Q2 '26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18.2</c:v>
                </c:pt>
                <c:pt idx="1">
                  <c:v>18.9</c:v>
                </c:pt>
                <c:pt idx="2">
                  <c:v>19.4</c:v>
                </c:pt>
                <c:pt idx="3">
                  <c:v>20.1</c:v>
                </c:pt>
                <c:pt idx="4">
                  <c:v>21</c:v>
                </c:pt>
                <c:pt idx="5">
                  <c:v>21.9</c:v>
                </c:pt>
                <c:pt idx="6">
                  <c:v>22.8</c:v>
                </c:pt>
                <c:pt idx="7">
                  <c:v>23.7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3645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E7B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DE2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B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Assets by 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2121"/>
              </a:solidFill>
              <a:effectLst/>
            </c:spPr>
          </c:dPt>
          <c:dPt>
            <c:idx val="1"/>
            <c:bubble3D val="0"/>
            <c:spPr>
              <a:solidFill>
                <a:srgbClr val="36454F"/>
              </a:solidFill>
              <a:effectLst/>
            </c:spPr>
          </c:dPt>
          <c:dPt>
            <c:idx val="2"/>
            <c:bubble3D val="0"/>
            <c:spPr>
              <a:solidFill>
                <a:srgbClr val="6E7B84"/>
              </a:solidFill>
              <a:effectLst/>
            </c:spPr>
          </c:dPt>
          <c:dPt>
            <c:idx val="3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Large market</c:v>
                </c:pt>
                <c:pt idx="1">
                  <c:v>Mid market</c:v>
                </c:pt>
                <c:pt idx="2">
                  <c:v>Small market</c:v>
                </c:pt>
                <c:pt idx="3">
                  <c:v>Pooled plans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46</c:v>
                </c:pt>
                <c:pt idx="1">
                  <c:v>31</c:v>
                </c:pt>
                <c:pt idx="2">
                  <c:v>15</c:v>
                </c:pt>
                <c:pt idx="3">
                  <c:v>8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 PLAN SERVICES  ·  INTERNAL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132588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64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 2026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75488" y="221284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Review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retention, and operations across the workplace retirement book — what moved, what stalled, and where Q3 attention goes.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4773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15,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20116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8DD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457200" cy="1280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66928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quarter in one number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383280" cy="306324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+18%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13232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FB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 GROWTH, YEAR OVER YEAR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340156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quarter since 2023, driven by large-market wins and repricing of the legacy book.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1417320"/>
            <a:ext cx="44805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60520" y="1417320"/>
            <a:ext cx="82296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5453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34840" y="180136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plans closed, $412M in new assets — 128% of the Q2 target.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60520" y="2468880"/>
            <a:ext cx="44805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60520" y="2468880"/>
            <a:ext cx="82296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25968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34840" y="285292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competitive loss (14 bps fee gap). At-risk list down from 11 plans to 6.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60520" y="3520440"/>
            <a:ext cx="44805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60520" y="3520440"/>
            <a:ext cx="82296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364845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34840" y="390448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Payroll-file error rate cut nearly in half after the intake redesign.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6908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 BUSINESS REVIEW  ·  RETIREMENT PLAN SERVICES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75320" y="46908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20116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8DD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457200" cy="1280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66928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Scorecard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15184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4533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$2.41B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UNDER ADMIN.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</a:t>
            </a:r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+6.2% QoQ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9272" y="1417320"/>
            <a:ext cx="2615184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02152" y="154533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02152" y="21488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ON PLATFORM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02152" y="2423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</a:t>
            </a:r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 net adds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35624" y="1417320"/>
            <a:ext cx="2615184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18504" y="154533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96.3%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18504" y="21488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RETENTION (TTM)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18504" y="2423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</a:t>
            </a:r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-0.4 pts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017520"/>
            <a:ext cx="2615184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14553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 days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5800" y="37490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IMPLEMENTATION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4023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</a:t>
            </a:r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 days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19272" y="3017520"/>
            <a:ext cx="2615184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02152" y="314553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+62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502152" y="37490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NPS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02152" y="4023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</a:t>
            </a:r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pts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35624" y="3017520"/>
            <a:ext cx="2615184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18504" y="3145536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318504" y="37490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ERROR RATE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18504" y="4023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</a:t>
            </a:r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1.7% in Q1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6908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 BUSINESS REVIEW  ·  RETIREMENT PLAN SERVICES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75320" y="46908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20116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8DD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457200" cy="1280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66928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is compounding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463040"/>
          <a:ext cx="56235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1463040"/>
            <a:ext cx="2331720" cy="310896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7" name="Text 4"/>
          <p:cNvSpPr/>
          <p:nvPr/>
        </p:nvSpPr>
        <p:spPr>
          <a:xfrm>
            <a:off x="6510528" y="16916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FB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10528" y="1993392"/>
            <a:ext cx="19385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straight quarters of growth.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actions added $1.1M this quarter; the rest is volume from new plans coming onto the platform.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46908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 BUSINESS REVIEW  ·  RETIREMENT PLAN SERVICES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75320" y="46908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20116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8DD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457200" cy="1280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66928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the book sits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17320"/>
          <a:ext cx="37490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343400" y="1490472"/>
            <a:ext cx="237744" cy="237744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7" name="Text 4"/>
          <p:cNvSpPr/>
          <p:nvPr/>
        </p:nvSpPr>
        <p:spPr>
          <a:xfrm>
            <a:off x="4709160" y="1417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market  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09160" y="170992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$1.11B — 9 plans over $50M; two added this quarter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2295144"/>
            <a:ext cx="237744" cy="23774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0" name="Text 7"/>
          <p:cNvSpPr/>
          <p:nvPr/>
        </p:nvSpPr>
        <p:spPr>
          <a:xfrm>
            <a:off x="4709160" y="2221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market  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09160" y="25146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$747M — the workhorse segment, 96 plans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43400" y="3099816"/>
            <a:ext cx="237744" cy="237744"/>
          </a:xfrm>
          <a:prstGeom prst="rect">
            <a:avLst/>
          </a:prstGeom>
          <a:solidFill>
            <a:srgbClr val="6E7B84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30266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market  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09160" y="33192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$362M — margin thin; repricing wave lands in Q3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343400" y="3904488"/>
            <a:ext cx="237744" cy="23774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3"/>
          <p:cNvSpPr/>
          <p:nvPr/>
        </p:nvSpPr>
        <p:spPr>
          <a:xfrm>
            <a:off x="4709160" y="38313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 plans  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09160" y="412394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$193M — PEP chassis growing 40% YoY off a small base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46908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 BUSINESS REVIEW  ·  RETIREMENT PLAN SERVICES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275320" y="46908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20116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8DD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457200" cy="1280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66928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into 2027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51560" y="2788920"/>
            <a:ext cx="7040880" cy="0"/>
          </a:xfrm>
          <a:prstGeom prst="line">
            <a:avLst/>
          </a:prstGeom>
          <a:noFill/>
          <a:ln w="31750">
            <a:solidFill>
              <a:srgbClr val="D8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633472"/>
            <a:ext cx="310896" cy="310896"/>
          </a:xfrm>
          <a:prstGeom prst="ellipse">
            <a:avLst/>
          </a:prstGeom>
          <a:solidFill>
            <a:srgbClr val="212121"/>
          </a:solidFill>
          <a:ln w="28575">
            <a:solidFill>
              <a:srgbClr val="2121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8196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$118M verbal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2880" y="15453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56332" y="2633472"/>
            <a:ext cx="310896" cy="310896"/>
          </a:xfrm>
          <a:prstGeom prst="ellipse">
            <a:avLst/>
          </a:prstGeom>
          <a:solidFill>
            <a:srgbClr val="212121"/>
          </a:solidFill>
          <a:ln w="28575">
            <a:solidFill>
              <a:srgbClr val="2121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3100" y="30083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$210M in finals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943100" y="35570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Aug–Sep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53128" y="2670048"/>
            <a:ext cx="237744" cy="23774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E7B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8196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$95M semifinals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03320" y="15453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3348" y="2670048"/>
            <a:ext cx="237744" cy="23774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E7B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3540" y="30083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$260M RFPs live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63540" y="35570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Nov–Dec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73568" y="2670048"/>
            <a:ext cx="237744" cy="23774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E7B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18196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1 conversions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223760" y="15453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'27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371600" y="4041648"/>
            <a:ext cx="64008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404164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$683M  </a:t>
            </a:r>
            <a:pPr indent="0" marL="0">
              <a:buNone/>
            </a:pPr>
            <a:r>
              <a:rPr lang="en-US" sz="115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weighted pipeline — 1.7× the same point last year.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6908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 BUSINESS REVIEW  ·  RETIREMENT PLAN SERVICES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75320" y="46908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20116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8DD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457200" cy="1280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66928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Wins and losses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4023360" cy="5120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508760"/>
            <a:ext cx="329184" cy="329184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91056"/>
            <a:ext cx="164592" cy="1645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4712" y="141732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WON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121408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Hartwell Logistics — $96M 401(k), displaced incumbent on service model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hospital systems consolidated onto the pooled-plan chassis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$50M+ win sourced entirely by an aggregator partnership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1417320"/>
            <a:ext cx="40233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1417320"/>
            <a:ext cx="4023360" cy="5120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Shape 10"/>
          <p:cNvSpPr/>
          <p:nvPr/>
        </p:nvSpPr>
        <p:spPr>
          <a:xfrm>
            <a:off x="4782312" y="1508760"/>
            <a:ext cx="329184" cy="329184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91056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39512" y="141732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LOST — AND WHY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892040" y="2121408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Corveta Foods ($44M) — lost on a 14 bps fee gap; pricing desk reviewing floor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Finals loss at Beacon Health — demo environment failed during live Q&amp;A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to one advisor referral in the Southwest; territory gap after departure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8" name="Text 14"/>
          <p:cNvSpPr/>
          <p:nvPr/>
        </p:nvSpPr>
        <p:spPr>
          <a:xfrm>
            <a:off x="502920" y="46908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 BUSINESS REVIEW  ·  RETIREMENT PLAN SERVICES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8275320" y="46908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20116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8DD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457200" cy="1280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66928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Operations pulse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48640" cy="548640"/>
          </a:xfrm>
          <a:prstGeom prst="ellipse">
            <a:avLst/>
          </a:prstGeom>
          <a:solidFill>
            <a:srgbClr val="21212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6245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redesign shipped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51960" y="13716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payroll-file validation cut the error rate from 1.7% to 0.9% in eight weeks.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084832"/>
            <a:ext cx="8138160" cy="0"/>
          </a:xfrm>
          <a:prstGeom prst="line">
            <a:avLst/>
          </a:prstGeom>
          <a:noFill/>
          <a:ln w="12700">
            <a:solidFill>
              <a:srgbClr val="D8DD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2212848"/>
            <a:ext cx="548640" cy="548640"/>
          </a:xfrm>
          <a:prstGeom prst="ellipse">
            <a:avLst/>
          </a:prstGeom>
          <a:solidFill>
            <a:srgbClr val="21212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500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2037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center strain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251960" y="221284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speed to answer rose to 74s in peak weeks — staffing plan lands with Q3 budget.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2926080"/>
            <a:ext cx="8138160" cy="0"/>
          </a:xfrm>
          <a:prstGeom prst="line">
            <a:avLst/>
          </a:prstGeom>
          <a:noFill/>
          <a:ln w="12700">
            <a:solidFill>
              <a:srgbClr val="D8DD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3054096"/>
            <a:ext cx="548640" cy="548640"/>
          </a:xfrm>
          <a:prstGeom prst="ellipse">
            <a:avLst/>
          </a:prstGeom>
          <a:solidFill>
            <a:srgbClr val="21212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9125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0449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Recordkeeping platform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251960" y="305409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99.97% uptime; June release added Roth catch-up automation for SECURE 2.0.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3767328"/>
            <a:ext cx="8138160" cy="0"/>
          </a:xfrm>
          <a:prstGeom prst="line">
            <a:avLst/>
          </a:prstGeom>
          <a:noFill/>
          <a:ln w="12700">
            <a:solidFill>
              <a:srgbClr val="D8DDE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2920" y="3895344"/>
            <a:ext cx="548640" cy="548640"/>
          </a:xfrm>
          <a:prstGeom prst="ellipse">
            <a:avLst/>
          </a:prstGeom>
          <a:solidFill>
            <a:srgbClr val="21212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325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886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251960" y="389534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senior implementation managers hired; onboarding cohort full through October.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25" name="Text 19"/>
          <p:cNvSpPr/>
          <p:nvPr/>
        </p:nvSpPr>
        <p:spPr>
          <a:xfrm>
            <a:off x="502920" y="46908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 BUSINESS REVIEW  ·  RETIREMENT PLAN SERVICES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8275320" y="46908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201168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D8DD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502920" y="384048"/>
            <a:ext cx="457200" cy="1280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66928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things to watch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15184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600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8DD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04088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compression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4088" y="292608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bps on renewals down 9% YoY. The Q3 repricing wave protects margin but raises retention risk on 14 small-market plans.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9272" y="1417320"/>
            <a:ext cx="2615184" cy="3200400"/>
          </a:xfrm>
          <a:prstGeom prst="rect">
            <a:avLst/>
          </a:prstGeom>
          <a:solidFill>
            <a:srgbClr val="212121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600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20440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capacity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292608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D2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count is up 12% with flat ops headcount. Error rates are improving, but peak-season call volumes are the canary.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35624" y="1417320"/>
            <a:ext cx="2615184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6792" y="1600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8DD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336792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calendar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36792" y="292608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2.0 mandatory provisions hit Jan 1. Client amendment packages must be out the door by mid-November.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6908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7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 BUSINESS REVIEW  ·  RETIREMENT PLAN SERVICES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75320" y="46908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66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FB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QUARTER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75488" y="8686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2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 priorities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19202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$210M in finals — win two of three and the year is made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43000" y="2487168"/>
            <a:ext cx="69494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257860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the small-market repricing wave with a retention playbook attached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43000" y="3145536"/>
            <a:ext cx="69494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36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3236976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the call center ahead of Q4 enrollment season, not during it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43000" y="3803904"/>
            <a:ext cx="694944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3895344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2.0 amendment packages to every sponsor by November 15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617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appendix and plan-level detail available in the operating review workbook.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Q2 2026 Business Review — Retirement Plan Services</dc:title>
  <dc:subject>PptxGenJS Presentation</dc:subject>
  <dc:creator>PptxGenJS</dc:creator>
  <cp:lastModifiedBy>PptxGenJS</cp:lastModifiedBy>
  <cp:revision>1</cp:revision>
  <dcterms:created xsi:type="dcterms:W3CDTF">2026-07-15T19:03:01Z</dcterms:created>
  <dcterms:modified xsi:type="dcterms:W3CDTF">2026-07-15T19:03:01Z</dcterms:modified>
</cp:coreProperties>
</file>