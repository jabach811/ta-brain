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DC plans formed annually (thousands)</c:v>
                </c:pt>
              </c:strCache>
            </c:strRef>
          </c:tx>
          <c:spPr>
            <a:solidFill>
              <a:srgbClr val="6D2E46"/>
            </a:solidFill>
            <a:ln w="44450" cap="flat">
              <a:solidFill>
                <a:srgbClr val="6D2E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D2E46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D2E46"/>
              </a:solidFill>
              <a:ln w="9525" cap="flat">
                <a:solidFill>
                  <a:srgbClr val="6D2E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  <c:pt idx="5">
                    <c:v>2026E</c:v>
                  </c:pt>
                  <c:pt idx="6">
                    <c:v>2027E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</c:v>
                </c:pt>
                <c:pt idx="1">
                  <c:v>56</c:v>
                </c:pt>
                <c:pt idx="2">
                  <c:v>71</c:v>
                </c:pt>
                <c:pt idx="3">
                  <c:v>89</c:v>
                </c:pt>
                <c:pt idx="4">
                  <c:v>104</c:v>
                </c:pt>
                <c:pt idx="5">
                  <c:v>118</c:v>
                </c:pt>
                <c:pt idx="6">
                  <c:v>131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D2E46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3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D7C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73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bubble3D val="0"/>
            <c:spPr>
              <a:solidFill>
                <a:srgbClr val="C9A9A0"/>
              </a:solidFill>
              <a:effectLst/>
            </c:spPr>
          </c:dPt>
          <c:dPt>
            <c:idx val="3"/>
            <c:bubble3D val="0"/>
            <c:spPr>
              <a:solidFill>
                <a:srgbClr val="E3D0C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Pillar I — small end</c:v>
                </c:pt>
                <c:pt idx="1">
                  <c:v>Pillar II — income</c:v>
                </c:pt>
                <c:pt idx="2">
                  <c:v>Pillar III — service</c:v>
                </c:pt>
                <c:pt idx="3">
                  <c:v>Run &amp; maintain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27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25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RETIREMENT STRATEGY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1664208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500"/>
              </a:lnSpc>
              <a:buNone/>
            </a:pPr>
            <a:r>
              <a:rPr lang="en-US" sz="4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2027</a:t>
            </a:r>
            <a:endParaRPr lang="en-US" sz="4900" dirty="0"/>
          </a:p>
          <a:p>
            <a:pPr indent="0" marL="0">
              <a:lnSpc>
                <a:spcPts val="5500"/>
              </a:lnSpc>
              <a:buNone/>
            </a:pPr>
            <a:r>
              <a:rPr lang="en-US" sz="4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Outlook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502920" y="35661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8A7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bets for the next planning cycle — and the honest math behind each one.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02920" y="4526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50" kern="0" dirty="0">
                <a:solidFill>
                  <a:srgbClr val="3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OFFICE  ·  JULY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book, narrowing moat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enters 2027 from strength: eight quarters of revenue growth, retention above 96%, and a pooled-plan chassis that is finally scaling.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moat is narrowing. Payroll providers are moving up-market, fee compression is structural, and the fastest-growing segment of the market — sub-$5M plans — is one we barely serve.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0" y="1481328"/>
            <a:ext cx="3611880" cy="896112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5230368" y="1481328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$2.4B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675120" y="1481328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3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administration today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0" y="2523744"/>
            <a:ext cx="36118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2523744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675120" y="2523744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payroll-provider share growth in plans under $5M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0" y="3566160"/>
            <a:ext cx="36118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3566160"/>
            <a:ext cx="1371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75120" y="3566160"/>
            <a:ext cx="1874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fee decline on renewal, year over 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2 —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bets, plainly stated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6151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59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22376" y="22128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small end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22376" y="28346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pooled plan the default chassis under $10M — sold through payroll and CPA channels, not against them.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22376" y="4059936"/>
            <a:ext cx="2176272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4133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$120M revenue by 2029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1463040"/>
            <a:ext cx="2615184" cy="310896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Text 10"/>
          <p:cNvSpPr/>
          <p:nvPr/>
        </p:nvSpPr>
        <p:spPr>
          <a:xfrm>
            <a:off x="3538728" y="159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38728" y="22128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as moat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38728" y="28346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3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In-plan guaranteed income keeps near-retiree assets on platform and gives advisors a reason to consolidate with us.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38728" y="4059936"/>
            <a:ext cx="2176272" cy="0"/>
          </a:xfrm>
          <a:prstGeom prst="line">
            <a:avLst/>
          </a:prstGeom>
          <a:noFill/>
          <a:ln w="12700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38728" y="4133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$500M income assets by '28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1463040"/>
            <a:ext cx="26151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9105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55080" y="22128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as product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55080" y="2834640"/>
            <a:ext cx="22128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response-time and accuracy SLAs and price them. Nobody else in the mid-market will put service in the contract.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55080" y="4059936"/>
            <a:ext cx="2176272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133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Top-2 NPS in segment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3 —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TAILWIND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mandates keep filling the funnel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11480" y="146304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463040"/>
            <a:ext cx="2834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053328" y="20574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3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Seventeen state mandates are now live. Plan formation has nearly tripled since 2021 — and almost all of it lands in the under-$5M segment that Pillar I is built for.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53328" y="3977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SOURCE: DOL FORM 5500 FILINGS; INTERNAL ANALYSIS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4 —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initiatives carry the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65506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71016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2.0 chassis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71016" y="18470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Re-platform pooled plans for 10x volume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66160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27448" y="1417320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655064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95544" y="15361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partnerships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95544" y="1847088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national CPA networks signed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90688" y="15361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2496312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273405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71016" y="2615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SecurePath Income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271016" y="292608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In-plan income at January QDIA window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66160" y="26151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27448" y="2496312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2734056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95544" y="26151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dashboard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95544" y="292608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Retained-AUM analytics for top 60 teams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90688" y="26151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" y="3575304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" y="381304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71016" y="3694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SLAs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271016" y="40050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service guarantees, priced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3694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27448" y="3575304"/>
            <a:ext cx="3931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92040" y="3813048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95544" y="36941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telemetry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495544" y="4005072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accuracy scoreboard, client-visible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790688" y="369417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5 —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$18M change budget goes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417320"/>
          <a:ext cx="3703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343400" y="1536192"/>
            <a:ext cx="219456" cy="219456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7" name="Text 4"/>
          <p:cNvSpPr/>
          <p:nvPr/>
        </p:nvSpPr>
        <p:spPr>
          <a:xfrm>
            <a:off x="4709160" y="1481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 — own the small end   </a:t>
            </a:r>
            <a:pPr indent="0" marL="0">
              <a:buNone/>
            </a:pPr>
            <a:r>
              <a:rPr lang="en-US" sz="1200" b="1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· $6.8M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709160" y="1773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re-platform is the single largest line item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2322576"/>
            <a:ext cx="219456" cy="219456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7"/>
          <p:cNvSpPr/>
          <p:nvPr/>
        </p:nvSpPr>
        <p:spPr>
          <a:xfrm>
            <a:off x="4709160" y="22677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 — income as moat   </a:t>
            </a:r>
            <a:pPr indent="0" marL="0">
              <a:buNone/>
            </a:pPr>
            <a:r>
              <a:rPr lang="en-US" sz="1200" b="1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· $4.9M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09160" y="2560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integration, filing, advisor tooling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43400" y="3108960"/>
            <a:ext cx="219456" cy="219456"/>
          </a:xfrm>
          <a:prstGeom prst="ellipse">
            <a:avLst/>
          </a:prstGeom>
          <a:solidFill>
            <a:srgbClr val="C9A9A0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3054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III — service as product   </a:t>
            </a:r>
            <a:pPr indent="0" marL="0">
              <a:buNone/>
            </a:pPr>
            <a:r>
              <a:rPr lang="en-US" sz="1200" b="1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$3.6M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09160" y="33467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build plus SLA reserve fund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43400" y="3895344"/>
            <a:ext cx="219456" cy="219456"/>
          </a:xfrm>
          <a:prstGeom prst="ellipse">
            <a:avLst/>
          </a:prstGeom>
          <a:solidFill>
            <a:srgbClr val="E3D0CB"/>
          </a:solidFill>
          <a:ln/>
        </p:spPr>
      </p:sp>
      <p:sp>
        <p:nvSpPr>
          <p:cNvPr id="16" name="Text 13"/>
          <p:cNvSpPr/>
          <p:nvPr/>
        </p:nvSpPr>
        <p:spPr>
          <a:xfrm>
            <a:off x="470916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maintain   </a:t>
            </a:r>
            <a:pPr indent="0" marL="0">
              <a:buNone/>
            </a:pPr>
            <a:r>
              <a:rPr lang="en-US" sz="1200" b="1" i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· $2.7M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09160" y="4133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Keep-the-lights-on floor, ring-fenced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6 —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Eighteen months, five moments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51560" y="2880360"/>
            <a:ext cx="7040880" cy="0"/>
          </a:xfrm>
          <a:prstGeom prst="line">
            <a:avLst/>
          </a:prstGeom>
          <a:noFill/>
          <a:ln w="31750">
            <a:solidFill>
              <a:srgbClr val="E3D0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76148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267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911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launch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2880" y="1636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2027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92908" y="276148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43100" y="309981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 channel live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943100" y="36484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53128" y="276148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267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1911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2.0 ships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03320" y="1636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2027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3348" y="276148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267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3540" y="309981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 published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63540" y="36484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973568" y="2761488"/>
            <a:ext cx="237744" cy="237744"/>
          </a:xfrm>
          <a:prstGeom prst="ellipse">
            <a:avLst/>
          </a:prstGeom>
          <a:solidFill>
            <a:srgbClr val="FFFFFF"/>
          </a:solidFill>
          <a:ln w="28575">
            <a:solidFill>
              <a:srgbClr val="A267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91109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review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16367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2027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88720" y="420624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8A73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date above is already on an executive calendar. The December review is where we decide whether Pillar III becomes a pricing model or stays a differentiator.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7 —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runs differently in 2027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0916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931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organized by plan size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34840" y="1783080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783080"/>
            <a:ext cx="3931920" cy="58521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783080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organized by channel — advisor, CPA, payroll, direct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496312"/>
            <a:ext cx="3931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staffed to average volume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34840" y="2496312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2496312"/>
            <a:ext cx="3931920" cy="58521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496312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Staffed to enrollment-season peaks, with a float pool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209544"/>
            <a:ext cx="3931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0954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approved deal-by-deal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34840" y="3209544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9544"/>
            <a:ext cx="3931920" cy="58521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09544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desk with published floors and a 24-hour SLA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922776"/>
            <a:ext cx="3931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2277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set annually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34840" y="3922776"/>
            <a:ext cx="274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3922776"/>
            <a:ext cx="3931920" cy="585216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92277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re-plan tied to the initiative portfolio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8 —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3D0C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PAGE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71600" y="60350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derail this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7259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44168" y="15453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Fiduciary litigation chill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44168" y="18562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high-profile income lawsuit freezes sponsor adoption for a cycle.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1344168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Counter: </a:t>
            </a:r>
            <a:pPr indent="0" marL="0">
              <a:lnSpc>
                <a:spcPts val="1200"/>
              </a:lnSpc>
              <a:buNone/>
            </a:pPr>
            <a:r>
              <a:rPr lang="en-US" sz="930" i="1" dirty="0">
                <a:solidFill>
                  <a:srgbClr val="3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Carrier-insured structure; opinion letters ready for committees.</a:t>
            </a:r>
            <a:endParaRPr lang="en-US" sz="930" dirty="0"/>
          </a:p>
        </p:txBody>
      </p:sp>
      <p:sp>
        <p:nvSpPr>
          <p:cNvPr id="11" name="Shape 8"/>
          <p:cNvSpPr/>
          <p:nvPr/>
        </p:nvSpPr>
        <p:spPr>
          <a:xfrm>
            <a:off x="4727448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10328" y="160020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058" y="172593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68696" y="154533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Payroll providers move faster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568696" y="185623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bundle plans at a price we can't meet under $5M.</a:t>
            </a:r>
            <a:endParaRPr lang="en-US" sz="980" dirty="0"/>
          </a:p>
        </p:txBody>
      </p:sp>
      <p:sp>
        <p:nvSpPr>
          <p:cNvPr id="16" name="Text 12"/>
          <p:cNvSpPr/>
          <p:nvPr/>
        </p:nvSpPr>
        <p:spPr>
          <a:xfrm>
            <a:off x="5568696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Counter: </a:t>
            </a:r>
            <a:pPr indent="0" marL="0">
              <a:lnSpc>
                <a:spcPts val="1200"/>
              </a:lnSpc>
              <a:buNone/>
            </a:pPr>
            <a:r>
              <a:rPr lang="en-US" sz="930" i="1" dirty="0">
                <a:solidFill>
                  <a:srgbClr val="3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why Pillar I sells through them, not against them.</a:t>
            </a:r>
            <a:endParaRPr lang="en-US" sz="930" dirty="0"/>
          </a:p>
        </p:txBody>
      </p:sp>
      <p:sp>
        <p:nvSpPr>
          <p:cNvPr id="17" name="Shape 13"/>
          <p:cNvSpPr/>
          <p:nvPr/>
        </p:nvSpPr>
        <p:spPr>
          <a:xfrm>
            <a:off x="502920" y="2990088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317296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3298698"/>
            <a:ext cx="251460" cy="2514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44168" y="3118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overload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344168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initiatives across three pillars strain the same platform team.</a:t>
            </a:r>
            <a:endParaRPr lang="en-US" sz="980" dirty="0"/>
          </a:p>
        </p:txBody>
      </p:sp>
      <p:sp>
        <p:nvSpPr>
          <p:cNvPr id="22" name="Text 17"/>
          <p:cNvSpPr/>
          <p:nvPr/>
        </p:nvSpPr>
        <p:spPr>
          <a:xfrm>
            <a:off x="1344168" y="39044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Counter: </a:t>
            </a:r>
            <a:pPr indent="0" marL="0">
              <a:lnSpc>
                <a:spcPts val="1200"/>
              </a:lnSpc>
              <a:buNone/>
            </a:pPr>
            <a:r>
              <a:rPr lang="en-US" sz="930" i="1" dirty="0">
                <a:solidFill>
                  <a:srgbClr val="3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board can kill or defer any initiative quarterly.</a:t>
            </a:r>
            <a:endParaRPr lang="en-US" sz="930" dirty="0"/>
          </a:p>
        </p:txBody>
      </p:sp>
      <p:sp>
        <p:nvSpPr>
          <p:cNvPr id="23" name="Shape 18"/>
          <p:cNvSpPr/>
          <p:nvPr/>
        </p:nvSpPr>
        <p:spPr>
          <a:xfrm>
            <a:off x="4727448" y="2990088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0C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910328" y="3172968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6058" y="3298698"/>
            <a:ext cx="251460" cy="2514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68696" y="311810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drift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5568696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leadership re-litigates the bets mid-cycle.</a:t>
            </a:r>
            <a:endParaRPr lang="en-US" sz="980" dirty="0"/>
          </a:p>
        </p:txBody>
      </p:sp>
      <p:sp>
        <p:nvSpPr>
          <p:cNvPr id="28" name="Text 22"/>
          <p:cNvSpPr/>
          <p:nvPr/>
        </p:nvSpPr>
        <p:spPr>
          <a:xfrm>
            <a:off x="5568696" y="390448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30" b="1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Counter: </a:t>
            </a:r>
            <a:pPr indent="0" marL="0">
              <a:lnSpc>
                <a:spcPts val="1200"/>
              </a:lnSpc>
              <a:buNone/>
            </a:pPr>
            <a:r>
              <a:rPr lang="en-US" sz="930" i="1" dirty="0">
                <a:solidFill>
                  <a:srgbClr val="3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Board-approved thesis; December review is the only re-open point.</a:t>
            </a:r>
            <a:endParaRPr lang="en-US" sz="930" dirty="0"/>
          </a:p>
        </p:txBody>
      </p:sp>
      <p:sp>
        <p:nvSpPr>
          <p:cNvPr id="29" name="Shape 23"/>
          <p:cNvSpPr/>
          <p:nvPr/>
        </p:nvSpPr>
        <p:spPr>
          <a:xfrm>
            <a:off x="502920" y="4846320"/>
            <a:ext cx="8138160" cy="0"/>
          </a:xfrm>
          <a:prstGeom prst="line">
            <a:avLst/>
          </a:prstGeom>
          <a:noFill/>
          <a:ln w="12700">
            <a:solidFill>
              <a:srgbClr val="E3D0C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" y="488289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8A7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STRATEGY OUTLOOK  ·  WORKPLACE RETIREMENT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7726680" y="4882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A26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9 —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9040" y="777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SIGNING UP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703320" y="10972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us to these numbers.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749040" y="251460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30352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the small-end chassis by 2029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749040" y="3136392"/>
            <a:ext cx="4754880" cy="0"/>
          </a:xfrm>
          <a:prstGeom prst="line">
            <a:avLst/>
          </a:prstGeom>
          <a:noFill/>
          <a:ln w="12700">
            <a:solidFill>
              <a:srgbClr val="8A4A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322783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303520" y="32278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in-plan income assets by end of 2028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3849624"/>
            <a:ext cx="4754880" cy="0"/>
          </a:xfrm>
          <a:prstGeom prst="line">
            <a:avLst/>
          </a:prstGeom>
          <a:noFill/>
          <a:ln w="12700">
            <a:solidFill>
              <a:srgbClr val="8A4A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3941064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0" y="394106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3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held while repricing the legacy book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46634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OFFICE  · 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2027 Strategy Outlook — Workplace Retirement</dc:title>
  <dc:subject>PptxGenJS Presentation</dc:subject>
  <dc:creator>PptxGenJS</dc:creator>
  <cp:lastModifiedBy>PptxGenJS</cp:lastModifiedBy>
  <cp:revision>1</cp:revision>
  <dcterms:created xsi:type="dcterms:W3CDTF">2026-07-15T19:03:02Z</dcterms:created>
  <dcterms:modified xsi:type="dcterms:W3CDTF">2026-07-15T19:03:02Z</dcterms:modified>
</cp:coreProperties>
</file>