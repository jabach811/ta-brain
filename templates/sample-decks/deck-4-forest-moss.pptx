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340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Enrollment rate</c:v>
                  </c:pt>
                  <c:pt idx="1">
                    <c:v>First-login rate</c:v>
                  </c:pt>
                  <c:pt idx="2">
                    <c:v>Deferral ≥ 5%</c:v>
                  </c:pt>
                  <c:pt idx="3">
                    <c:v>Beneficiary on file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70</c:v>
                </c:pt>
                <c:pt idx="2">
                  <c:v>60</c:v>
                </c:pt>
                <c:pt idx="3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Day-90 actual (tracking)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340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Enrollment rate</c:v>
                  </c:pt>
                  <c:pt idx="1">
                    <c:v>First-login rate</c:v>
                  </c:pt>
                  <c:pt idx="2">
                    <c:v>Deferral ≥ 5%</c:v>
                  </c:pt>
                  <c:pt idx="3">
                    <c:v>Beneficiary on file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64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2340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340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4ED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0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3705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50" kern="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PLAYBOOK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1481328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Evergreen Health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403(b) Plan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days from signature to steady state — the phase-by-phase playbook for the onboarding team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Practice  ·  July 2026  ·  v2.1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client, the clock, the commitment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947672" cy="1517904"/>
          </a:xfrm>
          <a:prstGeom prst="rect">
            <a:avLst/>
          </a:prstGeom>
          <a:solidFill>
            <a:srgbClr val="E8F0D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1673352" cy="63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6,800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227063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EMPLOYEES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544958"/>
            <a:ext cx="1673352" cy="38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11 hospital and clinic sites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33472" y="1481328"/>
            <a:ext cx="1947672" cy="1517904"/>
          </a:xfrm>
          <a:prstGeom prst="rect">
            <a:avLst/>
          </a:prstGeom>
          <a:solidFill>
            <a:srgbClr val="E8F0DC"/>
          </a:solidFill>
          <a:ln/>
        </p:spPr>
      </p:sp>
      <p:sp>
        <p:nvSpPr>
          <p:cNvPr id="10" name="Text 8"/>
          <p:cNvSpPr/>
          <p:nvPr/>
        </p:nvSpPr>
        <p:spPr>
          <a:xfrm>
            <a:off x="2770632" y="1645920"/>
            <a:ext cx="1673352" cy="63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$212M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770632" y="227063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ASSETS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70632" y="2544958"/>
            <a:ext cx="1673352" cy="38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from two legacy vendors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64024" y="1481328"/>
            <a:ext cx="1947672" cy="1517904"/>
          </a:xfrm>
          <a:prstGeom prst="rect">
            <a:avLst/>
          </a:prstGeom>
          <a:solidFill>
            <a:srgbClr val="E8F0DC"/>
          </a:solidFill>
          <a:ln/>
        </p:spPr>
      </p:sp>
      <p:sp>
        <p:nvSpPr>
          <p:cNvPr id="14" name="Text 12"/>
          <p:cNvSpPr/>
          <p:nvPr/>
        </p:nvSpPr>
        <p:spPr>
          <a:xfrm>
            <a:off x="4901184" y="1645920"/>
            <a:ext cx="1673352" cy="63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days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901184" y="227063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STEADY STATE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01184" y="2544958"/>
            <a:ext cx="1673352" cy="38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July 1 → go-live Sept 29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94576" y="1481328"/>
            <a:ext cx="1947672" cy="151790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94576" y="1481328"/>
            <a:ext cx="1947672" cy="640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7031736" y="1645920"/>
            <a:ext cx="1673352" cy="63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phases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7031736" y="227063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9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PLAYBOOK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31736" y="2544958"/>
            <a:ext cx="1673352" cy="38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build, convert, embed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356616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3726180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627632" y="3401568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left its last provider over a botched conversion. Every promise in this playbook was made in the finals presentation — the first 90 days are where we prove they chose right.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02920" y="47731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HEALTH 403(B)  ·  ONBOARDING PLAYBOOK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8430768" y="4718304"/>
            <a:ext cx="292608" cy="292608"/>
          </a:xfrm>
          <a:prstGeom prst="ellipse">
            <a:avLst/>
          </a:prstGeom>
          <a:solidFill>
            <a:srgbClr val="E8F0DC"/>
          </a:solidFill>
          <a:ln/>
        </p:spPr>
      </p:sp>
      <p:sp>
        <p:nvSpPr>
          <p:cNvPr id="27" name="Text 24"/>
          <p:cNvSpPr/>
          <p:nvPr/>
        </p:nvSpPr>
        <p:spPr>
          <a:xfrm>
            <a:off x="8430768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 in ninety days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947672" cy="3017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62763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67512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6883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301752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1E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census, plan document review, vendor data audit, stakeholder map.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33472" y="1481328"/>
            <a:ext cx="1947672" cy="3017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2798064" y="162763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798064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98064" y="26883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16–45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98064" y="301752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1E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Recordkeeping setup, payroll bridges, investment lineup, comms plan.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64024" y="1481328"/>
            <a:ext cx="1947672" cy="3017520"/>
          </a:xfrm>
          <a:prstGeom prst="rect">
            <a:avLst/>
          </a:prstGeom>
          <a:solidFill>
            <a:srgbClr val="E8F0DC"/>
          </a:solidFill>
          <a:ln/>
        </p:spPr>
      </p:sp>
      <p:sp>
        <p:nvSpPr>
          <p:cNvPr id="16" name="Text 14"/>
          <p:cNvSpPr/>
          <p:nvPr/>
        </p:nvSpPr>
        <p:spPr>
          <a:xfrm>
            <a:off x="4928616" y="162763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9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928616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28616" y="26883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46–75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28616" y="301752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window, asset transfer, reconciliation, go-live checks.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94576" y="1481328"/>
            <a:ext cx="1947672" cy="3017520"/>
          </a:xfrm>
          <a:prstGeom prst="rect">
            <a:avLst/>
          </a:prstGeom>
          <a:solidFill>
            <a:srgbClr val="E8F0DC"/>
          </a:solidFill>
          <a:ln/>
        </p:spPr>
      </p:sp>
      <p:sp>
        <p:nvSpPr>
          <p:cNvPr id="21" name="Text 19"/>
          <p:cNvSpPr/>
          <p:nvPr/>
        </p:nvSpPr>
        <p:spPr>
          <a:xfrm>
            <a:off x="7059168" y="162763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9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059168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59168" y="26883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76–90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59168" y="301752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push, manager training, first payroll cycles, handoff.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7731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HEALTH 403(B)  ·  ONBOARDING PLAYBOOK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430768" y="4718304"/>
            <a:ext cx="292608" cy="292608"/>
          </a:xfrm>
          <a:prstGeom prst="ellipse">
            <a:avLst/>
          </a:prstGeom>
          <a:solidFill>
            <a:srgbClr val="E8F0DC"/>
          </a:solidFill>
          <a:ln/>
        </p:spPr>
      </p:sp>
      <p:sp>
        <p:nvSpPr>
          <p:cNvPr id="27" name="Text 25"/>
          <p:cNvSpPr/>
          <p:nvPr/>
        </p:nvSpPr>
        <p:spPr>
          <a:xfrm>
            <a:off x="8430768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dates the client is watching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1560" y="2834640"/>
            <a:ext cx="7040880" cy="0"/>
          </a:xfrm>
          <a:prstGeom prst="line">
            <a:avLst/>
          </a:prstGeom>
          <a:noFill/>
          <a:ln w="31750">
            <a:solidFill>
              <a:srgbClr val="D7E4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679192"/>
            <a:ext cx="310896" cy="310896"/>
          </a:xfrm>
          <a:prstGeom prst="ellipse">
            <a:avLst/>
          </a:prstGeom>
          <a:solidFill>
            <a:srgbClr val="2C5F2D"/>
          </a:solidFill>
          <a:ln w="28575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8653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2880" y="1591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56332" y="2679192"/>
            <a:ext cx="310896" cy="310896"/>
          </a:xfrm>
          <a:prstGeom prst="ellipse">
            <a:avLst/>
          </a:prstGeom>
          <a:solidFill>
            <a:srgbClr val="2C5F2D"/>
          </a:solidFill>
          <a:ln w="28575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3100" y="30540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locked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43100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31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53128" y="271576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E94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8653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begins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03320" y="1591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3348" y="271576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E94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3540" y="30540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land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63540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19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73568" y="271576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E94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8653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23760" y="1591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71600" y="4069080"/>
            <a:ext cx="6400800" cy="548640"/>
          </a:xfrm>
          <a:prstGeom prst="rect">
            <a:avLst/>
          </a:prstGeom>
          <a:solidFill>
            <a:srgbClr val="E8F0DC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4069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is 27 days — </a:t>
            </a:r>
            <a:pPr indent="0" marL="0">
              <a:buNone/>
            </a:pPr>
            <a:r>
              <a:rPr lang="en-US" sz="115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than the 45 the client suffered last time. That number is in the contract; protect it.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47731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HEALTH 403(B)  ·  ONBOARDING PLAYBOOK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430768" y="4718304"/>
            <a:ext cx="292608" cy="292608"/>
          </a:xfrm>
          <a:prstGeom prst="ellipse">
            <a:avLst/>
          </a:prstGeom>
          <a:solidFill>
            <a:srgbClr val="E8F0DC"/>
          </a:solidFill>
          <a:ln/>
        </p:spPr>
      </p:sp>
      <p:sp>
        <p:nvSpPr>
          <p:cNvPr id="25" name="Text 23"/>
          <p:cNvSpPr/>
          <p:nvPr/>
        </p:nvSpPr>
        <p:spPr>
          <a:xfrm>
            <a:off x="8430768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what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7E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8036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7E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92040" y="1463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7E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FOR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847088"/>
            <a:ext cx="8138160" cy="585216"/>
          </a:xfrm>
          <a:prstGeom prst="rect">
            <a:avLst/>
          </a:prstGeom>
          <a:solidFill>
            <a:srgbClr val="F3F7E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4708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lead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80360" y="184708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Ramirez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847088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accountability; runs the weekly client call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243230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analyst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80360" y="243230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Okafor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432304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Census, data mapping, and the reconciliation ledger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8138160" cy="585216"/>
          </a:xfrm>
          <a:prstGeom prst="rect">
            <a:avLst/>
          </a:prstGeom>
          <a:solidFill>
            <a:srgbClr val="F3F7E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1752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integration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80360" y="301752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Lindqvist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017520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for Workday + two legacy payroll feeds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360273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80360" y="360273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Delgado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notices, enrollment campaign, site posters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187952"/>
            <a:ext cx="8138160" cy="585216"/>
          </a:xfrm>
          <a:prstGeom prst="rect">
            <a:avLst/>
          </a:prstGeom>
          <a:solidFill>
            <a:srgbClr val="F3F7E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8795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sponsor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80360" y="418795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Vance (Evergreen)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4187952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site access, and escalation on the client side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7731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HEALTH 403(B)  ·  ONBOARDING PLAYBOOK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430768" y="4718304"/>
            <a:ext cx="292608" cy="292608"/>
          </a:xfrm>
          <a:prstGeom prst="ellipse">
            <a:avLst/>
          </a:prstGeom>
          <a:solidFill>
            <a:srgbClr val="E8F0DC"/>
          </a:solidFill>
          <a:ln/>
        </p:spPr>
      </p:sp>
      <p:sp>
        <p:nvSpPr>
          <p:cNvPr id="29" name="Text 27"/>
          <p:cNvSpPr/>
          <p:nvPr/>
        </p:nvSpPr>
        <p:spPr>
          <a:xfrm>
            <a:off x="8430768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payroll,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5389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41732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extract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41732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Workday plus both legacy vendors; 6,800 records, 14 fields each.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929384"/>
            <a:ext cx="0" cy="164592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1226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07568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scrub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07568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SSNs across systems; last conversion this size surfaced ~400 mismatches.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587752"/>
            <a:ext cx="0" cy="164592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770632"/>
            <a:ext cx="457200" cy="457200"/>
          </a:xfrm>
          <a:prstGeom prst="ellipse">
            <a:avLst/>
          </a:prstGeom>
          <a:solidFill>
            <a:srgbClr val="E8F0D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73405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2734056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360° feed with Workday; manual bridge for the clinic payroll until Q1.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0" cy="164592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429000"/>
            <a:ext cx="457200" cy="457200"/>
          </a:xfrm>
          <a:prstGeom prst="ellipse">
            <a:avLst/>
          </a:prstGeom>
          <a:solidFill>
            <a:srgbClr val="E8F0D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39242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3392424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full payroll cycles run side-by-side before anyone cuts over.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904488"/>
            <a:ext cx="0" cy="164592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087368"/>
            <a:ext cx="457200" cy="457200"/>
          </a:xfrm>
          <a:prstGeom prst="ellipse">
            <a:avLst/>
          </a:prstGeom>
          <a:solidFill>
            <a:srgbClr val="E8F0D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05079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4050792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payroll director signs the reconciliation ledger — no verbal approvals.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7731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HEALTH 403(B)  ·  ONBOARDING PLAYBOOK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430768" y="4718304"/>
            <a:ext cx="292608" cy="292608"/>
          </a:xfrm>
          <a:prstGeom prst="ellipse">
            <a:avLst/>
          </a:prstGeom>
          <a:solidFill>
            <a:srgbClr val="E8F0DC"/>
          </a:solidFill>
          <a:ln/>
        </p:spPr>
      </p:sp>
      <p:sp>
        <p:nvSpPr>
          <p:cNvPr id="31" name="Text 29"/>
          <p:cNvSpPr/>
          <p:nvPr/>
        </p:nvSpPr>
        <p:spPr>
          <a:xfrm>
            <a:off x="8430768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employees hear, and when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15184" cy="3017520"/>
          </a:xfrm>
          <a:prstGeom prst="rect">
            <a:avLst/>
          </a:prstGeom>
          <a:solidFill>
            <a:srgbClr val="F3F7E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63040"/>
            <a:ext cx="2615184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8483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“Change is coming”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2542032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 letter, intranet banner, manager FAQ — signed by Evergreen's CHRO, not by us.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9272" y="1463040"/>
            <a:ext cx="2615184" cy="3017520"/>
          </a:xfrm>
          <a:prstGeom prst="rect">
            <a:avLst/>
          </a:prstGeom>
          <a:solidFill>
            <a:srgbClr val="F3F7EB"/>
          </a:solidFill>
          <a:ln/>
        </p:spPr>
      </p:sp>
      <p:sp>
        <p:nvSpPr>
          <p:cNvPr id="11" name="Shape 9"/>
          <p:cNvSpPr/>
          <p:nvPr/>
        </p:nvSpPr>
        <p:spPr>
          <a:xfrm>
            <a:off x="3319272" y="1463040"/>
            <a:ext cx="2615184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2152" y="208483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you need to do”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02152" y="2542032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notice (legal), enrollment guide, three lunch-and-learns per site, Spanish and Tagalog versions.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35624" y="1463040"/>
            <a:ext cx="2615184" cy="3017520"/>
          </a:xfrm>
          <a:prstGeom prst="rect">
            <a:avLst/>
          </a:prstGeom>
          <a:solidFill>
            <a:srgbClr val="F3F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6135624" y="1463040"/>
            <a:ext cx="2615184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318504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18504" y="208483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“You're live”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18504" y="2542032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email, first-login campaign, on-site help desks the week of Sept 29, textline for floor staff.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731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HEALTH 403(B)  ·  ONBOARDING PLAYBOOK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430768" y="4718304"/>
            <a:ext cx="292608" cy="292608"/>
          </a:xfrm>
          <a:prstGeom prst="ellipse">
            <a:avLst/>
          </a:prstGeom>
          <a:solidFill>
            <a:srgbClr val="E8F0DC"/>
          </a:solidFill>
          <a:ln/>
        </p:spPr>
      </p:sp>
      <p:sp>
        <p:nvSpPr>
          <p:cNvPr id="22" name="Text 20"/>
          <p:cNvSpPr/>
          <p:nvPr/>
        </p:nvSpPr>
        <p:spPr>
          <a:xfrm>
            <a:off x="8430768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optional on this page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31920" cy="859536"/>
          </a:xfrm>
          <a:prstGeom prst="rect">
            <a:avLst/>
          </a:prstGeom>
          <a:solidFill>
            <a:srgbClr val="F3F7E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63040"/>
            <a:ext cx="82296" cy="85953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22376" y="166420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77850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44168" y="15727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404(a)(5) fee disclosure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44168" y="18836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with enrollment guide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27448" y="1463040"/>
            <a:ext cx="3931920" cy="859536"/>
          </a:xfrm>
          <a:prstGeom prst="rect">
            <a:avLst/>
          </a:prstGeom>
          <a:solidFill>
            <a:srgbClr val="F3F7EB"/>
          </a:solidFill>
          <a:ln/>
        </p:spPr>
      </p:sp>
      <p:sp>
        <p:nvSpPr>
          <p:cNvPr id="12" name="Shape 9"/>
          <p:cNvSpPr/>
          <p:nvPr/>
        </p:nvSpPr>
        <p:spPr>
          <a:xfrm>
            <a:off x="4727448" y="1463040"/>
            <a:ext cx="82296" cy="85953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Shape 10"/>
          <p:cNvSpPr/>
          <p:nvPr/>
        </p:nvSpPr>
        <p:spPr>
          <a:xfrm>
            <a:off x="4946904" y="166420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204" y="177850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68696" y="15727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notice (30-day rule)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568696" y="18836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 Aug 1 — legal approved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2920" y="2487168"/>
            <a:ext cx="3931920" cy="859536"/>
          </a:xfrm>
          <a:prstGeom prst="rect">
            <a:avLst/>
          </a:prstGeom>
          <a:solidFill>
            <a:srgbClr val="F3F7EB"/>
          </a:solidFill>
          <a:ln/>
        </p:spPr>
      </p:sp>
      <p:sp>
        <p:nvSpPr>
          <p:cNvPr id="18" name="Shape 14"/>
          <p:cNvSpPr/>
          <p:nvPr/>
        </p:nvSpPr>
        <p:spPr>
          <a:xfrm>
            <a:off x="502920" y="2487168"/>
            <a:ext cx="82296" cy="85953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Shape 15"/>
          <p:cNvSpPr/>
          <p:nvPr/>
        </p:nvSpPr>
        <p:spPr>
          <a:xfrm>
            <a:off x="722376" y="268833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2802636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44168" y="25968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QDIA notice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344168" y="2907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enrollment guide + annual repeat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27448" y="2487168"/>
            <a:ext cx="3931920" cy="859536"/>
          </a:xfrm>
          <a:prstGeom prst="rect">
            <a:avLst/>
          </a:prstGeom>
          <a:solidFill>
            <a:srgbClr val="F3F7EB"/>
          </a:solidFill>
          <a:ln/>
        </p:spPr>
      </p:sp>
      <p:sp>
        <p:nvSpPr>
          <p:cNvPr id="24" name="Shape 19"/>
          <p:cNvSpPr/>
          <p:nvPr/>
        </p:nvSpPr>
        <p:spPr>
          <a:xfrm>
            <a:off x="4727448" y="2487168"/>
            <a:ext cx="82296" cy="859536"/>
          </a:xfrm>
          <a:prstGeom prst="rect">
            <a:avLst/>
          </a:prstGeom>
          <a:solidFill>
            <a:srgbClr val="C8871B"/>
          </a:solidFill>
          <a:ln/>
        </p:spPr>
      </p:sp>
      <p:sp>
        <p:nvSpPr>
          <p:cNvPr id="25" name="Shape 20"/>
          <p:cNvSpPr/>
          <p:nvPr/>
        </p:nvSpPr>
        <p:spPr>
          <a:xfrm>
            <a:off x="4946904" y="2688336"/>
            <a:ext cx="457200" cy="457200"/>
          </a:xfrm>
          <a:prstGeom prst="ellipse">
            <a:avLst/>
          </a:prstGeom>
          <a:solidFill>
            <a:srgbClr val="C8871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204" y="2802636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68696" y="25968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ERISA fidelity bond check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568696" y="2907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bond covers new asset level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02920" y="3511296"/>
            <a:ext cx="3931920" cy="859536"/>
          </a:xfrm>
          <a:prstGeom prst="rect">
            <a:avLst/>
          </a:prstGeom>
          <a:solidFill>
            <a:srgbClr val="F3F7EB"/>
          </a:solidFill>
          <a:ln/>
        </p:spPr>
      </p:sp>
      <p:sp>
        <p:nvSpPr>
          <p:cNvPr id="30" name="Shape 24"/>
          <p:cNvSpPr/>
          <p:nvPr/>
        </p:nvSpPr>
        <p:spPr>
          <a:xfrm>
            <a:off x="502920" y="3511296"/>
            <a:ext cx="82296" cy="859536"/>
          </a:xfrm>
          <a:prstGeom prst="rect">
            <a:avLst/>
          </a:prstGeom>
          <a:solidFill>
            <a:srgbClr val="C8871B"/>
          </a:solidFill>
          <a:ln/>
        </p:spPr>
      </p:sp>
      <p:sp>
        <p:nvSpPr>
          <p:cNvPr id="31" name="Shape 25"/>
          <p:cNvSpPr/>
          <p:nvPr/>
        </p:nvSpPr>
        <p:spPr>
          <a:xfrm>
            <a:off x="722376" y="3712464"/>
            <a:ext cx="457200" cy="457200"/>
          </a:xfrm>
          <a:prstGeom prst="ellipse">
            <a:avLst/>
          </a:prstGeom>
          <a:solidFill>
            <a:srgbClr val="C8871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3826764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344168" y="36210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document restatement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344168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 drafting; due before go-live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727448" y="3511296"/>
            <a:ext cx="3931920" cy="859536"/>
          </a:xfrm>
          <a:prstGeom prst="rect">
            <a:avLst/>
          </a:prstGeom>
          <a:solidFill>
            <a:srgbClr val="F3F7EB"/>
          </a:solidFill>
          <a:ln/>
        </p:spPr>
      </p:sp>
      <p:sp>
        <p:nvSpPr>
          <p:cNvPr id="36" name="Shape 29"/>
          <p:cNvSpPr/>
          <p:nvPr/>
        </p:nvSpPr>
        <p:spPr>
          <a:xfrm>
            <a:off x="4727448" y="3511296"/>
            <a:ext cx="82296" cy="859536"/>
          </a:xfrm>
          <a:prstGeom prst="rect">
            <a:avLst/>
          </a:prstGeom>
          <a:solidFill>
            <a:srgbClr val="C8871B"/>
          </a:solidFill>
          <a:ln/>
        </p:spPr>
      </p:sp>
      <p:sp>
        <p:nvSpPr>
          <p:cNvPr id="37" name="Shape 30"/>
          <p:cNvSpPr/>
          <p:nvPr/>
        </p:nvSpPr>
        <p:spPr>
          <a:xfrm>
            <a:off x="4946904" y="3712464"/>
            <a:ext cx="457200" cy="457200"/>
          </a:xfrm>
          <a:prstGeom prst="ellipse">
            <a:avLst/>
          </a:prstGeom>
          <a:solidFill>
            <a:srgbClr val="C8871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1204" y="3826764"/>
            <a:ext cx="228600" cy="2286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568696" y="36210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5500 filing responsibility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568696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to us for plan year 2026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502920" y="47731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HEALTH 403(B)  ·  ONBOARDING PLAYBOOK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8430768" y="4718304"/>
            <a:ext cx="292608" cy="292608"/>
          </a:xfrm>
          <a:prstGeom prst="ellipse">
            <a:avLst/>
          </a:prstGeom>
          <a:solidFill>
            <a:srgbClr val="E8F0DC"/>
          </a:solidFill>
          <a:ln/>
        </p:spPr>
      </p:sp>
      <p:sp>
        <p:nvSpPr>
          <p:cNvPr id="43" name="Text 35"/>
          <p:cNvSpPr/>
          <p:nvPr/>
        </p:nvSpPr>
        <p:spPr>
          <a:xfrm>
            <a:off x="8430768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Evergreen will grade us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46304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1463040"/>
            <a:ext cx="2560320" cy="3063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630936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MATTERS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09360" y="2148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309360" y="288036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1E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or wrong payroll contributions in the first 90 days.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1E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number the CFO quoted back to us from the finals meeting.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47731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HEALTH 403(B)  ·  ONBOARDING PLAYBOOK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430768" y="4718304"/>
            <a:ext cx="292608" cy="292608"/>
          </a:xfrm>
          <a:prstGeom prst="ellipse">
            <a:avLst/>
          </a:prstGeom>
          <a:solidFill>
            <a:srgbClr val="E8F0DC"/>
          </a:solidFill>
          <a:ln/>
        </p:spPr>
      </p:sp>
      <p:sp>
        <p:nvSpPr>
          <p:cNvPr id="12" name="Text 9"/>
          <p:cNvSpPr/>
          <p:nvPr/>
        </p:nvSpPr>
        <p:spPr>
          <a:xfrm>
            <a:off x="8430768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 AND BEYOND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it well,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hand it over.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274320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884932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456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Steady-state review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66928" y="37673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Day-90 scorecard presented to the Evergreen committee with the full reconciliation ledger.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28416" y="274320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48" y="288493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28416" y="3456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service team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28416" y="37673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meets their ongoing team in week 10 — no cold handoffs, two overlap calls minimum.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89904" y="274320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636" y="288493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89904" y="3456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Year-one calendar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089904" y="37673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testing, audit package, and education waves booked before onboarding closes.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66928" y="4709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Practice  ·  playbook v2.1  ·  July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Onboarding Playbook — Evergreen Health 403(b)</dc:title>
  <dc:subject>PptxGenJS Presentation</dc:subject>
  <dc:creator>PptxGenJS</dc:creator>
  <cp:lastModifiedBy>PptxGenJS</cp:lastModifiedBy>
  <cp:revision>1</cp:revision>
  <dcterms:created xsi:type="dcterms:W3CDTF">2026-07-15T18:59:25Z</dcterms:created>
  <dcterms:modified xsi:type="dcterms:W3CDTF">2026-07-15T18:59:25Z</dcterms:modified>
</cp:coreProperties>
</file>