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Complete</c:v>
                </c:pt>
              </c:strCache>
            </c:strRef>
          </c:tx>
          <c:spPr>
            <a:solidFill>
              <a:srgbClr val="1E2761"/>
            </a:solidFill>
            <a:effectLst/>
          </c:spPr>
          <c:invertIfNegative val="0"/>
          <c:dLbls>
            <c:numFmt formatCode="0&quot;%&quot;" sourceLinked="0"/>
            <c:txPr>
              <a:bodyPr/>
              <a:lstStyle/>
              <a:p>
                <a:pPr>
                  <a:defRPr b="0" i="0" strike="noStrike" sz="1000" u="none">
                    <a:solidFill>
                      <a:srgbClr val="1E2761"/>
                    </a:solidFill>
                    <a:latin typeface="Calibri"/>
                  </a:defRPr>
                </a:pPr>
              </a:p>
            </c:txPr>
            <c:showLegendKey val="0"/>
            <c:showVal val="1"/>
            <c:showCatName val="0"/>
            <c:showSerName val="0"/>
            <c:showPercent val="0"/>
            <c:showBubbleSize val="0"/>
            <c:showLeaderLines val="0"/>
          </c:dLbls>
          <c:cat>
            <c:multiLvlStrRef>
              <c:f>Sheet1!$A$2:$A$6</c:f>
              <c:multiLvlStrCache>
                <c:ptCount val="5"/>
                <c:lvl>
                  <c:pt idx="0">
                    <c:v>Recordkeeping</c:v>
                  </c:pt>
                  <c:pt idx="1">
                    <c:v>Payroll &amp; data</c:v>
                  </c:pt>
                  <c:pt idx="2">
                    <c:v>Compliance</c:v>
                  </c:pt>
                  <c:pt idx="3">
                    <c:v>Communications</c:v>
                  </c:pt>
                  <c:pt idx="4">
                    <c:v>Advisory</c:v>
                  </c:pt>
                </c:lvl>
              </c:multiLvlStrCache>
            </c:multiLvlStrRef>
          </c:cat>
          <c:val>
            <c:numRef>
              <c:f>Sheet1!$B$2:$B$6</c:f>
              <c:numCache>
                <c:formatCode>General</c:formatCode>
                <c:ptCount val="5"/>
                <c:pt idx="0">
                  <c:v>100</c:v>
                </c:pt>
                <c:pt idx="1">
                  <c:v>95</c:v>
                </c:pt>
                <c:pt idx="2">
                  <c:v>90</c:v>
                </c:pt>
                <c:pt idx="3">
                  <c:v>80</c:v>
                </c:pt>
                <c:pt idx="4">
                  <c:v>72</c:v>
                </c:pt>
              </c:numCache>
            </c:numRef>
          </c:val>
        </c:ser>
        <c:dLbls>
          <c:numFmt formatCode="0&quot;%&quot;" sourceLinked="0"/>
          <c:txPr>
            <a:bodyPr/>
            <a:lstStyle/>
            <a:p>
              <a:pPr>
                <a:defRPr b="0" i="0" strike="noStrike" sz="1000" u="none">
                  <a:solidFill>
                    <a:srgbClr val="1E2761"/>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E2761"/>
                </a:solidFill>
                <a:latin typeface="Calibri"/>
              </a:defRPr>
            </a:pPr>
            <a:endParaRPr lang="en-US"/>
          </a:p>
        </c:txPr>
        <c:crossAx val="2094734552"/>
        <c:crosses val="autoZero"/>
        <c:auto val="1"/>
        <c:lblAlgn val="ctr"/>
        <c:noMultiLvlLbl val="1"/>
      </c:catAx>
      <c:valAx>
        <c:axId val="2094734552"/>
        <c:scaling>
          <c:orientation val="minMax"/>
          <c:max val="100"/>
        </c:scaling>
        <c:delete val="0"/>
        <c:axPos val="b"/>
        <c:majorGridlines>
          <c:spPr>
            <a:ln w="6350" cap="flat">
              <a:solidFill>
                <a:srgbClr val="E4E9F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E6B9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94360" y="1170432"/>
            <a:ext cx="5760720" cy="274320"/>
          </a:xfrm>
          <a:prstGeom prst="rect">
            <a:avLst/>
          </a:prstGeom>
          <a:noFill/>
          <a:ln/>
        </p:spPr>
        <p:txBody>
          <a:bodyPr wrap="square" lIns="0" tIns="0" rIns="0" bIns="0" rtlCol="0" anchor="ctr"/>
          <a:lstStyle/>
          <a:p>
            <a:pPr indent="0" marL="0">
              <a:buNone/>
            </a:pPr>
            <a:r>
              <a:rPr lang="en-US" sz="1200" b="1" spc="350" kern="0" dirty="0">
                <a:solidFill>
                  <a:srgbClr val="9FBEE8"/>
                </a:solidFill>
                <a:latin typeface="Calibri" pitchFamily="34" charset="0"/>
                <a:ea typeface="Calibri" pitchFamily="34" charset="-122"/>
                <a:cs typeface="Calibri" pitchFamily="34" charset="-120"/>
              </a:rPr>
              <a:t>MERIDIAN MANUFACTURING  ·  401(K) PLAN</a:t>
            </a:r>
            <a:endParaRPr lang="en-US" sz="1200" dirty="0"/>
          </a:p>
        </p:txBody>
      </p:sp>
      <p:sp>
        <p:nvSpPr>
          <p:cNvPr id="3" name="Text 1"/>
          <p:cNvSpPr/>
          <p:nvPr/>
        </p:nvSpPr>
        <p:spPr>
          <a:xfrm>
            <a:off x="566928" y="1481328"/>
            <a:ext cx="6766560" cy="1572768"/>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Georgia" pitchFamily="34" charset="0"/>
                <a:ea typeface="Georgia" pitchFamily="34" charset="-122"/>
                <a:cs typeface="Georgia" pitchFamily="34" charset="-120"/>
              </a:rPr>
              <a:t>Executive Handoff</a:t>
            </a:r>
            <a:endParaRPr lang="en-US" sz="4000" dirty="0"/>
          </a:p>
          <a:p>
            <a:pPr indent="0" marL="0">
              <a:lnSpc>
                <a:spcPts val="4600"/>
              </a:lnSpc>
              <a:buNone/>
            </a:pPr>
            <a:r>
              <a:rPr lang="en-US" sz="4000" b="1" dirty="0">
                <a:solidFill>
                  <a:srgbClr val="FFFFFF"/>
                </a:solidFill>
                <a:latin typeface="Georgia" pitchFamily="34" charset="0"/>
                <a:ea typeface="Georgia" pitchFamily="34" charset="-122"/>
                <a:cs typeface="Georgia" pitchFamily="34" charset="-120"/>
              </a:rPr>
              <a:t>Summary</a:t>
            </a:r>
            <a:endParaRPr lang="en-US" sz="4000" dirty="0"/>
          </a:p>
        </p:txBody>
      </p:sp>
      <p:sp>
        <p:nvSpPr>
          <p:cNvPr id="4" name="Text 2"/>
          <p:cNvSpPr/>
          <p:nvPr/>
        </p:nvSpPr>
        <p:spPr>
          <a:xfrm>
            <a:off x="594360" y="3346704"/>
            <a:ext cx="5394960" cy="685800"/>
          </a:xfrm>
          <a:prstGeom prst="rect">
            <a:avLst/>
          </a:prstGeom>
          <a:noFill/>
          <a:ln/>
        </p:spPr>
        <p:txBody>
          <a:bodyPr wrap="square" lIns="0" tIns="0" rIns="0" bIns="0" rtlCol="0" anchor="ctr"/>
          <a:lstStyle/>
          <a:p>
            <a:pPr indent="0" marL="0">
              <a:lnSpc>
                <a:spcPts val="1800"/>
              </a:lnSpc>
              <a:buNone/>
            </a:pPr>
            <a:r>
              <a:rPr lang="en-US" sz="1300" dirty="0">
                <a:solidFill>
                  <a:srgbClr val="CADCFC"/>
                </a:solidFill>
                <a:latin typeface="Calibri" pitchFamily="34" charset="0"/>
                <a:ea typeface="Calibri" pitchFamily="34" charset="-122"/>
                <a:cs typeface="Calibri" pitchFamily="34" charset="-120"/>
              </a:rPr>
              <a:t>Overview of the corporate retirement plan process — transition from implementation to ongoing service</a:t>
            </a:r>
            <a:endParaRPr lang="en-US" sz="1300" dirty="0"/>
          </a:p>
        </p:txBody>
      </p:sp>
      <p:sp>
        <p:nvSpPr>
          <p:cNvPr id="5" name="Text 3"/>
          <p:cNvSpPr/>
          <p:nvPr/>
        </p:nvSpPr>
        <p:spPr>
          <a:xfrm>
            <a:off x="594360" y="4370832"/>
            <a:ext cx="5486400" cy="274320"/>
          </a:xfrm>
          <a:prstGeom prst="rect">
            <a:avLst/>
          </a:prstGeom>
          <a:noFill/>
          <a:ln/>
        </p:spPr>
        <p:txBody>
          <a:bodyPr wrap="square" lIns="0" tIns="0" rIns="0" bIns="0" rtlCol="0" anchor="ctr"/>
          <a:lstStyle/>
          <a:p>
            <a:pPr indent="0" marL="0">
              <a:buNone/>
            </a:pPr>
            <a:r>
              <a:rPr lang="en-US" sz="1050" dirty="0">
                <a:solidFill>
                  <a:srgbClr val="9FBEE8"/>
                </a:solidFill>
                <a:latin typeface="Calibri" pitchFamily="34" charset="0"/>
                <a:ea typeface="Calibri" pitchFamily="34" charset="-122"/>
                <a:cs typeface="Calibri" pitchFamily="34" charset="-120"/>
              </a:rPr>
              <a:t>Prepared by the Transition Team   ·   July 2026   ·   Confidential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56032"/>
          </a:xfrm>
          <a:prstGeom prst="rect">
            <a:avLst/>
          </a:prstGeom>
          <a:noFill/>
          <a:ln/>
        </p:spPr>
        <p:txBody>
          <a:bodyPr wrap="square" lIns="0" tIns="0" rIns="0" bIns="0" rtlCol="0" anchor="ctr"/>
          <a:lstStyle/>
          <a:p>
            <a:pPr indent="0" marL="0">
              <a:buNone/>
            </a:pPr>
            <a:r>
              <a:rPr lang="en-US" sz="1100" b="1" spc="300" kern="0" dirty="0">
                <a:solidFill>
                  <a:srgbClr val="9FBEE8"/>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502920" y="548640"/>
            <a:ext cx="8229600" cy="566928"/>
          </a:xfrm>
          <a:prstGeom prst="rect">
            <a:avLst/>
          </a:prstGeom>
          <a:noFill/>
          <a:ln/>
        </p:spPr>
        <p:txBody>
          <a:bodyPr wrap="square" lIns="0" tIns="0" rIns="0" bIns="0" rtlCol="0" anchor="t"/>
          <a:lstStyle/>
          <a:p>
            <a:pPr indent="0" marL="0">
              <a:buNone/>
            </a:pPr>
            <a:r>
              <a:rPr lang="en-US" sz="3000" b="1" dirty="0">
                <a:solidFill>
                  <a:srgbClr val="1E2761"/>
                </a:solidFill>
                <a:latin typeface="Georgia" pitchFamily="34" charset="0"/>
                <a:ea typeface="Georgia" pitchFamily="34" charset="-122"/>
                <a:cs typeface="Georgia" pitchFamily="34" charset="-120"/>
              </a:rPr>
              <a:t>What this briefing covers</a:t>
            </a:r>
            <a:endParaRPr lang="en-US" sz="3000" dirty="0"/>
          </a:p>
        </p:txBody>
      </p:sp>
      <p:sp>
        <p:nvSpPr>
          <p:cNvPr id="4" name="Shape 2"/>
          <p:cNvSpPr/>
          <p:nvPr/>
        </p:nvSpPr>
        <p:spPr>
          <a:xfrm>
            <a:off x="502920" y="1481328"/>
            <a:ext cx="3931920" cy="914400"/>
          </a:xfrm>
          <a:prstGeom prst="rect">
            <a:avLst/>
          </a:prstGeom>
          <a:solidFill>
            <a:srgbClr val="F6F8FD"/>
          </a:solidFill>
          <a:ln/>
        </p:spPr>
      </p:sp>
      <p:sp>
        <p:nvSpPr>
          <p:cNvPr id="5" name="Shape 3"/>
          <p:cNvSpPr/>
          <p:nvPr/>
        </p:nvSpPr>
        <p:spPr>
          <a:xfrm>
            <a:off x="704088" y="1719072"/>
            <a:ext cx="438912" cy="438912"/>
          </a:xfrm>
          <a:prstGeom prst="ellipse">
            <a:avLst/>
          </a:prstGeom>
          <a:solidFill>
            <a:srgbClr val="1E2761"/>
          </a:solidFill>
          <a:ln/>
        </p:spPr>
      </p:sp>
      <p:sp>
        <p:nvSpPr>
          <p:cNvPr id="6" name="Text 4"/>
          <p:cNvSpPr/>
          <p:nvPr/>
        </p:nvSpPr>
        <p:spPr>
          <a:xfrm>
            <a:off x="704088" y="1700784"/>
            <a:ext cx="438912" cy="438912"/>
          </a:xfrm>
          <a:prstGeom prst="rect">
            <a:avLst/>
          </a:prstGeom>
          <a:noFill/>
          <a:ln/>
        </p:spPr>
        <p:txBody>
          <a:bodyPr wrap="square" lIns="0" tIns="0" rIns="0" bIns="0" rtlCol="0" anchor="ctr"/>
          <a:lstStyle/>
          <a:p>
            <a:pPr algn="ctr" indent="0" marL="0">
              <a:buNone/>
            </a:pPr>
            <a:r>
              <a:rPr lang="en-US" sz="1500" b="1" dirty="0">
                <a:solidFill>
                  <a:srgbClr val="CADCFC"/>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325880" y="1627632"/>
            <a:ext cx="3017520" cy="310896"/>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Plan at a glance</a:t>
            </a:r>
            <a:endParaRPr lang="en-US" sz="1450" dirty="0"/>
          </a:p>
        </p:txBody>
      </p:sp>
      <p:sp>
        <p:nvSpPr>
          <p:cNvPr id="8" name="Text 6"/>
          <p:cNvSpPr/>
          <p:nvPr/>
        </p:nvSpPr>
        <p:spPr>
          <a:xfrm>
            <a:off x="1325880" y="1938528"/>
            <a:ext cx="3017520" cy="384048"/>
          </a:xfrm>
          <a:prstGeom prst="rect">
            <a:avLst/>
          </a:prstGeom>
          <a:noFill/>
          <a:ln/>
        </p:spPr>
        <p:txBody>
          <a:bodyPr wrap="square" lIns="0" tIns="0" rIns="0" bIns="0" rtlCol="0" anchor="ctr"/>
          <a:lstStyle/>
          <a:p>
            <a:pPr indent="0" marL="0">
              <a:buNone/>
            </a:pPr>
            <a:r>
              <a:rPr lang="en-US" sz="1050" dirty="0">
                <a:solidFill>
                  <a:srgbClr val="5E6B94"/>
                </a:solidFill>
                <a:latin typeface="Calibri" pitchFamily="34" charset="0"/>
                <a:ea typeface="Calibri" pitchFamily="34" charset="-122"/>
                <a:cs typeface="Calibri" pitchFamily="34" charset="-120"/>
              </a:rPr>
              <a:t>Assets, participants, and headline metrics</a:t>
            </a:r>
            <a:endParaRPr lang="en-US" sz="1050" dirty="0"/>
          </a:p>
        </p:txBody>
      </p:sp>
      <p:sp>
        <p:nvSpPr>
          <p:cNvPr id="9" name="Shape 7"/>
          <p:cNvSpPr/>
          <p:nvPr/>
        </p:nvSpPr>
        <p:spPr>
          <a:xfrm>
            <a:off x="4727448" y="1481328"/>
            <a:ext cx="3931920" cy="914400"/>
          </a:xfrm>
          <a:prstGeom prst="rect">
            <a:avLst/>
          </a:prstGeom>
          <a:solidFill>
            <a:srgbClr val="F6F8FD"/>
          </a:solidFill>
          <a:ln/>
        </p:spPr>
      </p:sp>
      <p:sp>
        <p:nvSpPr>
          <p:cNvPr id="10" name="Shape 8"/>
          <p:cNvSpPr/>
          <p:nvPr/>
        </p:nvSpPr>
        <p:spPr>
          <a:xfrm>
            <a:off x="4928616" y="1719072"/>
            <a:ext cx="438912" cy="438912"/>
          </a:xfrm>
          <a:prstGeom prst="ellipse">
            <a:avLst/>
          </a:prstGeom>
          <a:solidFill>
            <a:srgbClr val="1E2761"/>
          </a:solidFill>
          <a:ln/>
        </p:spPr>
      </p:sp>
      <p:sp>
        <p:nvSpPr>
          <p:cNvPr id="11" name="Text 9"/>
          <p:cNvSpPr/>
          <p:nvPr/>
        </p:nvSpPr>
        <p:spPr>
          <a:xfrm>
            <a:off x="4928616" y="1700784"/>
            <a:ext cx="438912" cy="438912"/>
          </a:xfrm>
          <a:prstGeom prst="rect">
            <a:avLst/>
          </a:prstGeom>
          <a:noFill/>
          <a:ln/>
        </p:spPr>
        <p:txBody>
          <a:bodyPr wrap="square" lIns="0" tIns="0" rIns="0" bIns="0" rtlCol="0" anchor="ctr"/>
          <a:lstStyle/>
          <a:p>
            <a:pPr algn="ctr" indent="0" marL="0">
              <a:buNone/>
            </a:pPr>
            <a:r>
              <a:rPr lang="en-US" sz="1500" b="1" dirty="0">
                <a:solidFill>
                  <a:srgbClr val="CADCFC"/>
                </a:solidFill>
                <a:latin typeface="Georgia" pitchFamily="34" charset="0"/>
                <a:ea typeface="Georgia" pitchFamily="34" charset="-122"/>
                <a:cs typeface="Georgia" pitchFamily="34" charset="-120"/>
              </a:rPr>
              <a:t>2</a:t>
            </a:r>
            <a:endParaRPr lang="en-US" sz="1500" dirty="0"/>
          </a:p>
        </p:txBody>
      </p:sp>
      <p:sp>
        <p:nvSpPr>
          <p:cNvPr id="12" name="Text 10"/>
          <p:cNvSpPr/>
          <p:nvPr/>
        </p:nvSpPr>
        <p:spPr>
          <a:xfrm>
            <a:off x="5550408" y="1627632"/>
            <a:ext cx="3017520" cy="310896"/>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Project status</a:t>
            </a:r>
            <a:endParaRPr lang="en-US" sz="1450" dirty="0"/>
          </a:p>
        </p:txBody>
      </p:sp>
      <p:sp>
        <p:nvSpPr>
          <p:cNvPr id="13" name="Text 11"/>
          <p:cNvSpPr/>
          <p:nvPr/>
        </p:nvSpPr>
        <p:spPr>
          <a:xfrm>
            <a:off x="5550408" y="1938528"/>
            <a:ext cx="3017520" cy="384048"/>
          </a:xfrm>
          <a:prstGeom prst="rect">
            <a:avLst/>
          </a:prstGeom>
          <a:noFill/>
          <a:ln/>
        </p:spPr>
        <p:txBody>
          <a:bodyPr wrap="square" lIns="0" tIns="0" rIns="0" bIns="0" rtlCol="0" anchor="ctr"/>
          <a:lstStyle/>
          <a:p>
            <a:pPr indent="0" marL="0">
              <a:buNone/>
            </a:pPr>
            <a:r>
              <a:rPr lang="en-US" sz="1050" dirty="0">
                <a:solidFill>
                  <a:srgbClr val="5E6B94"/>
                </a:solidFill>
                <a:latin typeface="Calibri" pitchFamily="34" charset="0"/>
                <a:ea typeface="Calibri" pitchFamily="34" charset="-122"/>
                <a:cs typeface="Calibri" pitchFamily="34" charset="-120"/>
              </a:rPr>
              <a:t>Where the transition stands today</a:t>
            </a:r>
            <a:endParaRPr lang="en-US" sz="1050" dirty="0"/>
          </a:p>
        </p:txBody>
      </p:sp>
      <p:sp>
        <p:nvSpPr>
          <p:cNvPr id="14" name="Shape 12"/>
          <p:cNvSpPr/>
          <p:nvPr/>
        </p:nvSpPr>
        <p:spPr>
          <a:xfrm>
            <a:off x="502920" y="2560320"/>
            <a:ext cx="3931920" cy="914400"/>
          </a:xfrm>
          <a:prstGeom prst="rect">
            <a:avLst/>
          </a:prstGeom>
          <a:solidFill>
            <a:srgbClr val="F6F8FD"/>
          </a:solidFill>
          <a:ln/>
        </p:spPr>
      </p:sp>
      <p:sp>
        <p:nvSpPr>
          <p:cNvPr id="15" name="Shape 13"/>
          <p:cNvSpPr/>
          <p:nvPr/>
        </p:nvSpPr>
        <p:spPr>
          <a:xfrm>
            <a:off x="704088" y="2798064"/>
            <a:ext cx="438912" cy="438912"/>
          </a:xfrm>
          <a:prstGeom prst="ellipse">
            <a:avLst/>
          </a:prstGeom>
          <a:solidFill>
            <a:srgbClr val="1E2761"/>
          </a:solidFill>
          <a:ln/>
        </p:spPr>
      </p:sp>
      <p:sp>
        <p:nvSpPr>
          <p:cNvPr id="16" name="Text 14"/>
          <p:cNvSpPr/>
          <p:nvPr/>
        </p:nvSpPr>
        <p:spPr>
          <a:xfrm>
            <a:off x="704088" y="2779776"/>
            <a:ext cx="438912" cy="438912"/>
          </a:xfrm>
          <a:prstGeom prst="rect">
            <a:avLst/>
          </a:prstGeom>
          <a:noFill/>
          <a:ln/>
        </p:spPr>
        <p:txBody>
          <a:bodyPr wrap="square" lIns="0" tIns="0" rIns="0" bIns="0" rtlCol="0" anchor="ctr"/>
          <a:lstStyle/>
          <a:p>
            <a:pPr algn="ctr" indent="0" marL="0">
              <a:buNone/>
            </a:pPr>
            <a:r>
              <a:rPr lang="en-US" sz="1500" b="1" dirty="0">
                <a:solidFill>
                  <a:srgbClr val="CADCFC"/>
                </a:solidFill>
                <a:latin typeface="Georgia" pitchFamily="34" charset="0"/>
                <a:ea typeface="Georgia" pitchFamily="34" charset="-122"/>
                <a:cs typeface="Georgia" pitchFamily="34" charset="-120"/>
              </a:rPr>
              <a:t>3</a:t>
            </a:r>
            <a:endParaRPr lang="en-US" sz="1500" dirty="0"/>
          </a:p>
        </p:txBody>
      </p:sp>
      <p:sp>
        <p:nvSpPr>
          <p:cNvPr id="17" name="Text 15"/>
          <p:cNvSpPr/>
          <p:nvPr/>
        </p:nvSpPr>
        <p:spPr>
          <a:xfrm>
            <a:off x="1325880" y="2706624"/>
            <a:ext cx="3017520" cy="310896"/>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Milestones</a:t>
            </a:r>
            <a:endParaRPr lang="en-US" sz="1450" dirty="0"/>
          </a:p>
        </p:txBody>
      </p:sp>
      <p:sp>
        <p:nvSpPr>
          <p:cNvPr id="18" name="Text 16"/>
          <p:cNvSpPr/>
          <p:nvPr/>
        </p:nvSpPr>
        <p:spPr>
          <a:xfrm>
            <a:off x="1325880" y="3017520"/>
            <a:ext cx="3017520" cy="384048"/>
          </a:xfrm>
          <a:prstGeom prst="rect">
            <a:avLst/>
          </a:prstGeom>
          <a:noFill/>
          <a:ln/>
        </p:spPr>
        <p:txBody>
          <a:bodyPr wrap="square" lIns="0" tIns="0" rIns="0" bIns="0" rtlCol="0" anchor="ctr"/>
          <a:lstStyle/>
          <a:p>
            <a:pPr indent="0" marL="0">
              <a:buNone/>
            </a:pPr>
            <a:r>
              <a:rPr lang="en-US" sz="1050" dirty="0">
                <a:solidFill>
                  <a:srgbClr val="5E6B94"/>
                </a:solidFill>
                <a:latin typeface="Calibri" pitchFamily="34" charset="0"/>
                <a:ea typeface="Calibri" pitchFamily="34" charset="-122"/>
                <a:cs typeface="Calibri" pitchFamily="34" charset="-120"/>
              </a:rPr>
              <a:t>What is complete and what remains</a:t>
            </a:r>
            <a:endParaRPr lang="en-US" sz="1050" dirty="0"/>
          </a:p>
        </p:txBody>
      </p:sp>
      <p:sp>
        <p:nvSpPr>
          <p:cNvPr id="19" name="Shape 17"/>
          <p:cNvSpPr/>
          <p:nvPr/>
        </p:nvSpPr>
        <p:spPr>
          <a:xfrm>
            <a:off x="4727448" y="2560320"/>
            <a:ext cx="3931920" cy="914400"/>
          </a:xfrm>
          <a:prstGeom prst="rect">
            <a:avLst/>
          </a:prstGeom>
          <a:solidFill>
            <a:srgbClr val="F6F8FD"/>
          </a:solidFill>
          <a:ln/>
        </p:spPr>
      </p:sp>
      <p:sp>
        <p:nvSpPr>
          <p:cNvPr id="20" name="Shape 18"/>
          <p:cNvSpPr/>
          <p:nvPr/>
        </p:nvSpPr>
        <p:spPr>
          <a:xfrm>
            <a:off x="4928616" y="2798064"/>
            <a:ext cx="438912" cy="438912"/>
          </a:xfrm>
          <a:prstGeom prst="ellipse">
            <a:avLst/>
          </a:prstGeom>
          <a:solidFill>
            <a:srgbClr val="1E2761"/>
          </a:solidFill>
          <a:ln/>
        </p:spPr>
      </p:sp>
      <p:sp>
        <p:nvSpPr>
          <p:cNvPr id="21" name="Text 19"/>
          <p:cNvSpPr/>
          <p:nvPr/>
        </p:nvSpPr>
        <p:spPr>
          <a:xfrm>
            <a:off x="4928616" y="2779776"/>
            <a:ext cx="438912" cy="438912"/>
          </a:xfrm>
          <a:prstGeom prst="rect">
            <a:avLst/>
          </a:prstGeom>
          <a:noFill/>
          <a:ln/>
        </p:spPr>
        <p:txBody>
          <a:bodyPr wrap="square" lIns="0" tIns="0" rIns="0" bIns="0" rtlCol="0" anchor="ctr"/>
          <a:lstStyle/>
          <a:p>
            <a:pPr algn="ctr" indent="0" marL="0">
              <a:buNone/>
            </a:pPr>
            <a:r>
              <a:rPr lang="en-US" sz="1500" b="1" dirty="0">
                <a:solidFill>
                  <a:srgbClr val="CADCFC"/>
                </a:solidFill>
                <a:latin typeface="Georgia" pitchFamily="34" charset="0"/>
                <a:ea typeface="Georgia" pitchFamily="34" charset="-122"/>
                <a:cs typeface="Georgia" pitchFamily="34" charset="-120"/>
              </a:rPr>
              <a:t>4</a:t>
            </a:r>
            <a:endParaRPr lang="en-US" sz="1500" dirty="0"/>
          </a:p>
        </p:txBody>
      </p:sp>
      <p:sp>
        <p:nvSpPr>
          <p:cNvPr id="22" name="Text 20"/>
          <p:cNvSpPr/>
          <p:nvPr/>
        </p:nvSpPr>
        <p:spPr>
          <a:xfrm>
            <a:off x="5550408" y="2706624"/>
            <a:ext cx="3017520" cy="310896"/>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Work stream detail</a:t>
            </a:r>
            <a:endParaRPr lang="en-US" sz="1450" dirty="0"/>
          </a:p>
        </p:txBody>
      </p:sp>
      <p:sp>
        <p:nvSpPr>
          <p:cNvPr id="23" name="Text 21"/>
          <p:cNvSpPr/>
          <p:nvPr/>
        </p:nvSpPr>
        <p:spPr>
          <a:xfrm>
            <a:off x="5550408" y="3017520"/>
            <a:ext cx="3017520" cy="384048"/>
          </a:xfrm>
          <a:prstGeom prst="rect">
            <a:avLst/>
          </a:prstGeom>
          <a:noFill/>
          <a:ln/>
        </p:spPr>
        <p:txBody>
          <a:bodyPr wrap="square" lIns="0" tIns="0" rIns="0" bIns="0" rtlCol="0" anchor="ctr"/>
          <a:lstStyle/>
          <a:p>
            <a:pPr indent="0" marL="0">
              <a:buNone/>
            </a:pPr>
            <a:r>
              <a:rPr lang="en-US" sz="1050" dirty="0">
                <a:solidFill>
                  <a:srgbClr val="5E6B94"/>
                </a:solidFill>
                <a:latin typeface="Calibri" pitchFamily="34" charset="0"/>
                <a:ea typeface="Calibri" pitchFamily="34" charset="-122"/>
                <a:cs typeface="Calibri" pitchFamily="34" charset="-120"/>
              </a:rPr>
              <a:t>Status across all five work streams</a:t>
            </a:r>
            <a:endParaRPr lang="en-US" sz="1050" dirty="0"/>
          </a:p>
        </p:txBody>
      </p:sp>
      <p:sp>
        <p:nvSpPr>
          <p:cNvPr id="24" name="Shape 22"/>
          <p:cNvSpPr/>
          <p:nvPr/>
        </p:nvSpPr>
        <p:spPr>
          <a:xfrm>
            <a:off x="502920" y="3639312"/>
            <a:ext cx="3931920" cy="914400"/>
          </a:xfrm>
          <a:prstGeom prst="rect">
            <a:avLst/>
          </a:prstGeom>
          <a:solidFill>
            <a:srgbClr val="F6F8FD"/>
          </a:solidFill>
          <a:ln/>
        </p:spPr>
      </p:sp>
      <p:sp>
        <p:nvSpPr>
          <p:cNvPr id="25" name="Shape 23"/>
          <p:cNvSpPr/>
          <p:nvPr/>
        </p:nvSpPr>
        <p:spPr>
          <a:xfrm>
            <a:off x="704088" y="3877056"/>
            <a:ext cx="438912" cy="438912"/>
          </a:xfrm>
          <a:prstGeom prst="ellipse">
            <a:avLst/>
          </a:prstGeom>
          <a:solidFill>
            <a:srgbClr val="1E2761"/>
          </a:solidFill>
          <a:ln/>
        </p:spPr>
      </p:sp>
      <p:sp>
        <p:nvSpPr>
          <p:cNvPr id="26" name="Text 24"/>
          <p:cNvSpPr/>
          <p:nvPr/>
        </p:nvSpPr>
        <p:spPr>
          <a:xfrm>
            <a:off x="704088" y="3858768"/>
            <a:ext cx="438912" cy="438912"/>
          </a:xfrm>
          <a:prstGeom prst="rect">
            <a:avLst/>
          </a:prstGeom>
          <a:noFill/>
          <a:ln/>
        </p:spPr>
        <p:txBody>
          <a:bodyPr wrap="square" lIns="0" tIns="0" rIns="0" bIns="0" rtlCol="0" anchor="ctr"/>
          <a:lstStyle/>
          <a:p>
            <a:pPr algn="ctr" indent="0" marL="0">
              <a:buNone/>
            </a:pPr>
            <a:r>
              <a:rPr lang="en-US" sz="1500" b="1" dirty="0">
                <a:solidFill>
                  <a:srgbClr val="CADCFC"/>
                </a:solidFill>
                <a:latin typeface="Georgia" pitchFamily="34" charset="0"/>
                <a:ea typeface="Georgia" pitchFamily="34" charset="-122"/>
                <a:cs typeface="Georgia" pitchFamily="34" charset="-120"/>
              </a:rPr>
              <a:t>5</a:t>
            </a:r>
            <a:endParaRPr lang="en-US" sz="1500" dirty="0"/>
          </a:p>
        </p:txBody>
      </p:sp>
      <p:sp>
        <p:nvSpPr>
          <p:cNvPr id="27" name="Text 25"/>
          <p:cNvSpPr/>
          <p:nvPr/>
        </p:nvSpPr>
        <p:spPr>
          <a:xfrm>
            <a:off x="1325880" y="3785616"/>
            <a:ext cx="3017520" cy="310896"/>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Risks &amp; decisions</a:t>
            </a:r>
            <a:endParaRPr lang="en-US" sz="1450" dirty="0"/>
          </a:p>
        </p:txBody>
      </p:sp>
      <p:sp>
        <p:nvSpPr>
          <p:cNvPr id="28" name="Text 26"/>
          <p:cNvSpPr/>
          <p:nvPr/>
        </p:nvSpPr>
        <p:spPr>
          <a:xfrm>
            <a:off x="1325880" y="4096512"/>
            <a:ext cx="3017520" cy="384048"/>
          </a:xfrm>
          <a:prstGeom prst="rect">
            <a:avLst/>
          </a:prstGeom>
          <a:noFill/>
          <a:ln/>
        </p:spPr>
        <p:txBody>
          <a:bodyPr wrap="square" lIns="0" tIns="0" rIns="0" bIns="0" rtlCol="0" anchor="ctr"/>
          <a:lstStyle/>
          <a:p>
            <a:pPr indent="0" marL="0">
              <a:buNone/>
            </a:pPr>
            <a:r>
              <a:rPr lang="en-US" sz="1050" dirty="0">
                <a:solidFill>
                  <a:srgbClr val="5E6B94"/>
                </a:solidFill>
                <a:latin typeface="Calibri" pitchFamily="34" charset="0"/>
                <a:ea typeface="Calibri" pitchFamily="34" charset="-122"/>
                <a:cs typeface="Calibri" pitchFamily="34" charset="-120"/>
              </a:rPr>
              <a:t>Open items requiring executive attention</a:t>
            </a:r>
            <a:endParaRPr lang="en-US" sz="1050" dirty="0"/>
          </a:p>
        </p:txBody>
      </p:sp>
      <p:sp>
        <p:nvSpPr>
          <p:cNvPr id="29" name="Shape 27"/>
          <p:cNvSpPr/>
          <p:nvPr/>
        </p:nvSpPr>
        <p:spPr>
          <a:xfrm>
            <a:off x="4727448" y="3639312"/>
            <a:ext cx="3931920" cy="914400"/>
          </a:xfrm>
          <a:prstGeom prst="rect">
            <a:avLst/>
          </a:prstGeom>
          <a:solidFill>
            <a:srgbClr val="F6F8FD"/>
          </a:solidFill>
          <a:ln/>
        </p:spPr>
      </p:sp>
      <p:sp>
        <p:nvSpPr>
          <p:cNvPr id="30" name="Shape 28"/>
          <p:cNvSpPr/>
          <p:nvPr/>
        </p:nvSpPr>
        <p:spPr>
          <a:xfrm>
            <a:off x="4928616" y="3877056"/>
            <a:ext cx="438912" cy="438912"/>
          </a:xfrm>
          <a:prstGeom prst="ellipse">
            <a:avLst/>
          </a:prstGeom>
          <a:solidFill>
            <a:srgbClr val="1E2761"/>
          </a:solidFill>
          <a:ln/>
        </p:spPr>
      </p:sp>
      <p:sp>
        <p:nvSpPr>
          <p:cNvPr id="31" name="Text 29"/>
          <p:cNvSpPr/>
          <p:nvPr/>
        </p:nvSpPr>
        <p:spPr>
          <a:xfrm>
            <a:off x="4928616" y="3858768"/>
            <a:ext cx="438912" cy="438912"/>
          </a:xfrm>
          <a:prstGeom prst="rect">
            <a:avLst/>
          </a:prstGeom>
          <a:noFill/>
          <a:ln/>
        </p:spPr>
        <p:txBody>
          <a:bodyPr wrap="square" lIns="0" tIns="0" rIns="0" bIns="0" rtlCol="0" anchor="ctr"/>
          <a:lstStyle/>
          <a:p>
            <a:pPr algn="ctr" indent="0" marL="0">
              <a:buNone/>
            </a:pPr>
            <a:r>
              <a:rPr lang="en-US" sz="1500" b="1" dirty="0">
                <a:solidFill>
                  <a:srgbClr val="CADCFC"/>
                </a:solidFill>
                <a:latin typeface="Georgia" pitchFamily="34" charset="0"/>
                <a:ea typeface="Georgia" pitchFamily="34" charset="-122"/>
                <a:cs typeface="Georgia" pitchFamily="34" charset="-120"/>
              </a:rPr>
              <a:t>6</a:t>
            </a:r>
            <a:endParaRPr lang="en-US" sz="1500" dirty="0"/>
          </a:p>
        </p:txBody>
      </p:sp>
      <p:sp>
        <p:nvSpPr>
          <p:cNvPr id="32" name="Text 30"/>
          <p:cNvSpPr/>
          <p:nvPr/>
        </p:nvSpPr>
        <p:spPr>
          <a:xfrm>
            <a:off x="5550408" y="3785616"/>
            <a:ext cx="3017520" cy="310896"/>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Priorities &amp; lessons</a:t>
            </a:r>
            <a:endParaRPr lang="en-US" sz="1450" dirty="0"/>
          </a:p>
        </p:txBody>
      </p:sp>
      <p:sp>
        <p:nvSpPr>
          <p:cNvPr id="33" name="Text 31"/>
          <p:cNvSpPr/>
          <p:nvPr/>
        </p:nvSpPr>
        <p:spPr>
          <a:xfrm>
            <a:off x="5550408" y="4096512"/>
            <a:ext cx="3017520" cy="384048"/>
          </a:xfrm>
          <a:prstGeom prst="rect">
            <a:avLst/>
          </a:prstGeom>
          <a:noFill/>
          <a:ln/>
        </p:spPr>
        <p:txBody>
          <a:bodyPr wrap="square" lIns="0" tIns="0" rIns="0" bIns="0" rtlCol="0" anchor="ctr"/>
          <a:lstStyle/>
          <a:p>
            <a:pPr indent="0" marL="0">
              <a:buNone/>
            </a:pPr>
            <a:r>
              <a:rPr lang="en-US" sz="1050" dirty="0">
                <a:solidFill>
                  <a:srgbClr val="5E6B94"/>
                </a:solidFill>
                <a:latin typeface="Calibri" pitchFamily="34" charset="0"/>
                <a:ea typeface="Calibri" pitchFamily="34" charset="-122"/>
                <a:cs typeface="Calibri" pitchFamily="34" charset="-120"/>
              </a:rPr>
              <a:t>The 90-day runway and what we learned</a:t>
            </a:r>
            <a:endParaRPr lang="en-US" sz="1050" dirty="0"/>
          </a:p>
        </p:txBody>
      </p:sp>
      <p:sp>
        <p:nvSpPr>
          <p:cNvPr id="34" name="Shape 32"/>
          <p:cNvSpPr/>
          <p:nvPr/>
        </p:nvSpPr>
        <p:spPr>
          <a:xfrm>
            <a:off x="0" y="5070348"/>
            <a:ext cx="9144000" cy="73152"/>
          </a:xfrm>
          <a:prstGeom prst="rect">
            <a:avLst/>
          </a:prstGeom>
          <a:solidFill>
            <a:srgbClr val="1E2761"/>
          </a:solidFill>
          <a:ln/>
        </p:spPr>
      </p:sp>
      <p:sp>
        <p:nvSpPr>
          <p:cNvPr id="35" name="Text 33"/>
          <p:cNvSpPr/>
          <p:nvPr/>
        </p:nvSpPr>
        <p:spPr>
          <a:xfrm>
            <a:off x="502920" y="4809744"/>
            <a:ext cx="5486400" cy="228600"/>
          </a:xfrm>
          <a:prstGeom prst="rect">
            <a:avLst/>
          </a:prstGeom>
          <a:noFill/>
          <a:ln/>
        </p:spPr>
        <p:txBody>
          <a:bodyPr wrap="square" lIns="0" tIns="0" rIns="0" bIns="0" rtlCol="0" anchor="ctr"/>
          <a:lstStyle/>
          <a:p>
            <a:pPr indent="0" marL="0">
              <a:buNone/>
            </a:pPr>
            <a:r>
              <a:rPr lang="en-US" sz="850" dirty="0">
                <a:solidFill>
                  <a:srgbClr val="5E6B94"/>
                </a:solidFill>
                <a:latin typeface="Calibri" pitchFamily="34" charset="0"/>
                <a:ea typeface="Calibri" pitchFamily="34" charset="-122"/>
                <a:cs typeface="Calibri" pitchFamily="34" charset="-120"/>
              </a:rPr>
              <a:t>Executive Handoff Summary  ·  Meridian Manufacturing 401(k)</a:t>
            </a:r>
            <a:endParaRPr lang="en-US" sz="850" dirty="0"/>
          </a:p>
        </p:txBody>
      </p:sp>
      <p:sp>
        <p:nvSpPr>
          <p:cNvPr id="36" name="Text 34"/>
          <p:cNvSpPr/>
          <p:nvPr/>
        </p:nvSpPr>
        <p:spPr>
          <a:xfrm>
            <a:off x="8321040" y="4809744"/>
            <a:ext cx="320040" cy="228600"/>
          </a:xfrm>
          <a:prstGeom prst="rect">
            <a:avLst/>
          </a:prstGeom>
          <a:noFill/>
          <a:ln/>
        </p:spPr>
        <p:txBody>
          <a:bodyPr wrap="square" lIns="0" tIns="0" rIns="0" bIns="0" rtlCol="0" anchor="ctr"/>
          <a:lstStyle/>
          <a:p>
            <a:pPr algn="r" indent="0" marL="0">
              <a:buNone/>
            </a:pPr>
            <a:r>
              <a:rPr lang="en-US" sz="850" b="1" dirty="0">
                <a:solidFill>
                  <a:srgbClr val="5E6B94"/>
                </a:solidFill>
                <a:latin typeface="Calibri" pitchFamily="34" charset="0"/>
                <a:ea typeface="Calibri" pitchFamily="34" charset="-122"/>
                <a:cs typeface="Calibri" pitchFamily="34" charset="-120"/>
              </a:rPr>
              <a:t>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56032"/>
          </a:xfrm>
          <a:prstGeom prst="rect">
            <a:avLst/>
          </a:prstGeom>
          <a:noFill/>
          <a:ln/>
        </p:spPr>
        <p:txBody>
          <a:bodyPr wrap="square" lIns="0" tIns="0" rIns="0" bIns="0" rtlCol="0" anchor="ctr"/>
          <a:lstStyle/>
          <a:p>
            <a:pPr indent="0" marL="0">
              <a:buNone/>
            </a:pPr>
            <a:r>
              <a:rPr lang="en-US" sz="1100" b="1" spc="300" kern="0" dirty="0">
                <a:solidFill>
                  <a:srgbClr val="9FBEE8"/>
                </a:solidFill>
                <a:latin typeface="Calibri" pitchFamily="34" charset="0"/>
                <a:ea typeface="Calibri" pitchFamily="34" charset="-122"/>
                <a:cs typeface="Calibri" pitchFamily="34" charset="-120"/>
              </a:rPr>
              <a:t>PLAN AT A GLANCE</a:t>
            </a:r>
            <a:endParaRPr lang="en-US" sz="1100" dirty="0"/>
          </a:p>
        </p:txBody>
      </p:sp>
      <p:sp>
        <p:nvSpPr>
          <p:cNvPr id="3" name="Text 1"/>
          <p:cNvSpPr/>
          <p:nvPr/>
        </p:nvSpPr>
        <p:spPr>
          <a:xfrm>
            <a:off x="502920" y="548640"/>
            <a:ext cx="8229600" cy="566928"/>
          </a:xfrm>
          <a:prstGeom prst="rect">
            <a:avLst/>
          </a:prstGeom>
          <a:noFill/>
          <a:ln/>
        </p:spPr>
        <p:txBody>
          <a:bodyPr wrap="square" lIns="0" tIns="0" rIns="0" bIns="0" rtlCol="0" anchor="t"/>
          <a:lstStyle/>
          <a:p>
            <a:pPr indent="0" marL="0">
              <a:buNone/>
            </a:pPr>
            <a:r>
              <a:rPr lang="en-US" sz="3000" b="1" dirty="0">
                <a:solidFill>
                  <a:srgbClr val="1E2761"/>
                </a:solidFill>
                <a:latin typeface="Georgia" pitchFamily="34" charset="0"/>
                <a:ea typeface="Georgia" pitchFamily="34" charset="-122"/>
                <a:cs typeface="Georgia" pitchFamily="34" charset="-120"/>
              </a:rPr>
              <a:t>A healthy plan, ready for day-to-day service</a:t>
            </a:r>
            <a:endParaRPr lang="en-US" sz="3000" dirty="0"/>
          </a:p>
        </p:txBody>
      </p:sp>
      <p:sp>
        <p:nvSpPr>
          <p:cNvPr id="4" name="Shape 2"/>
          <p:cNvSpPr/>
          <p:nvPr/>
        </p:nvSpPr>
        <p:spPr>
          <a:xfrm>
            <a:off x="502920" y="1554480"/>
            <a:ext cx="1947672" cy="1481328"/>
          </a:xfrm>
          <a:prstGeom prst="rect">
            <a:avLst/>
          </a:prstGeom>
          <a:solidFill>
            <a:srgbClr val="1E2761"/>
          </a:solidFill>
          <a:ln/>
          <a:effectLst>
            <a:outerShdw sx="100000" sy="100000" kx="0" ky="0" algn="bl" rotWithShape="0" blurRad="101600" dist="25400" dir="5400000">
              <a:srgbClr val="000000">
                <a:alpha val="14000"/>
              </a:srgbClr>
            </a:outerShdw>
          </a:effectLst>
        </p:spPr>
      </p:sp>
      <p:sp>
        <p:nvSpPr>
          <p:cNvPr id="5" name="Shape 3"/>
          <p:cNvSpPr/>
          <p:nvPr/>
        </p:nvSpPr>
        <p:spPr>
          <a:xfrm>
            <a:off x="502920" y="1554480"/>
            <a:ext cx="1947672" cy="64008"/>
          </a:xfrm>
          <a:prstGeom prst="rect">
            <a:avLst/>
          </a:prstGeom>
          <a:solidFill>
            <a:srgbClr val="CADCFC"/>
          </a:solidFill>
          <a:ln/>
        </p:spPr>
      </p:sp>
      <p:sp>
        <p:nvSpPr>
          <p:cNvPr id="6" name="Text 4"/>
          <p:cNvSpPr/>
          <p:nvPr/>
        </p:nvSpPr>
        <p:spPr>
          <a:xfrm>
            <a:off x="640080" y="1719072"/>
            <a:ext cx="1673352" cy="622158"/>
          </a:xfrm>
          <a:prstGeom prst="rect">
            <a:avLst/>
          </a:prstGeom>
          <a:noFill/>
          <a:ln/>
        </p:spPr>
        <p:txBody>
          <a:bodyPr wrap="square" lIns="0" tIns="0" rIns="0" bIns="0" rtlCol="0" anchor="ctr"/>
          <a:lstStyle/>
          <a:p>
            <a:pPr algn="l" indent="0" marL="0">
              <a:buNone/>
            </a:pPr>
            <a:r>
              <a:rPr lang="en-US" sz="3000" b="1" dirty="0">
                <a:solidFill>
                  <a:srgbClr val="FFFFFF"/>
                </a:solidFill>
                <a:latin typeface="Georgia" pitchFamily="34" charset="0"/>
                <a:ea typeface="Georgia" pitchFamily="34" charset="-122"/>
                <a:cs typeface="Georgia" pitchFamily="34" charset="-120"/>
              </a:rPr>
              <a:t>$84.2M</a:t>
            </a:r>
            <a:endParaRPr lang="en-US" sz="3000" dirty="0"/>
          </a:p>
        </p:txBody>
      </p:sp>
      <p:sp>
        <p:nvSpPr>
          <p:cNvPr id="7" name="Text 5"/>
          <p:cNvSpPr/>
          <p:nvPr/>
        </p:nvSpPr>
        <p:spPr>
          <a:xfrm>
            <a:off x="640080" y="2324771"/>
            <a:ext cx="1673352" cy="274320"/>
          </a:xfrm>
          <a:prstGeom prst="rect">
            <a:avLst/>
          </a:prstGeom>
          <a:noFill/>
          <a:ln/>
        </p:spPr>
        <p:txBody>
          <a:bodyPr wrap="square" lIns="0" tIns="0" rIns="0" bIns="0" rtlCol="0" anchor="ctr"/>
          <a:lstStyle/>
          <a:p>
            <a:pPr algn="l" indent="0" marL="0">
              <a:buNone/>
            </a:pPr>
            <a:r>
              <a:rPr lang="en-US" sz="1050" b="1" spc="200" kern="0" dirty="0">
                <a:solidFill>
                  <a:srgbClr val="9FBEE8"/>
                </a:solidFill>
                <a:latin typeface="Calibri" pitchFamily="34" charset="0"/>
                <a:ea typeface="Calibri" pitchFamily="34" charset="-122"/>
                <a:cs typeface="Calibri" pitchFamily="34" charset="-120"/>
              </a:rPr>
              <a:t>PLAN ASSETS</a:t>
            </a:r>
            <a:endParaRPr lang="en-US" sz="1050" dirty="0"/>
          </a:p>
        </p:txBody>
      </p:sp>
      <p:sp>
        <p:nvSpPr>
          <p:cNvPr id="8" name="Text 6"/>
          <p:cNvSpPr/>
          <p:nvPr/>
        </p:nvSpPr>
        <p:spPr>
          <a:xfrm>
            <a:off x="640080" y="2599091"/>
            <a:ext cx="1673352" cy="363565"/>
          </a:xfrm>
          <a:prstGeom prst="rect">
            <a:avLst/>
          </a:prstGeom>
          <a:noFill/>
          <a:ln/>
        </p:spPr>
        <p:txBody>
          <a:bodyPr wrap="square" lIns="0" tIns="0" rIns="0" bIns="0" rtlCol="0" anchor="t"/>
          <a:lstStyle/>
          <a:p>
            <a:pPr algn="l" indent="0" marL="0">
              <a:buNone/>
            </a:pPr>
            <a:r>
              <a:rPr lang="en-US" sz="1000" dirty="0">
                <a:solidFill>
                  <a:srgbClr val="CADCFC"/>
                </a:solidFill>
                <a:latin typeface="Calibri" pitchFamily="34" charset="0"/>
                <a:ea typeface="Calibri" pitchFamily="34" charset="-122"/>
                <a:cs typeface="Calibri" pitchFamily="34" charset="-120"/>
              </a:rPr>
              <a:t>Up from $78.6M at conversion</a:t>
            </a:r>
            <a:endParaRPr lang="en-US" sz="1000" dirty="0"/>
          </a:p>
        </p:txBody>
      </p:sp>
      <p:sp>
        <p:nvSpPr>
          <p:cNvPr id="9" name="Shape 7"/>
          <p:cNvSpPr/>
          <p:nvPr/>
        </p:nvSpPr>
        <p:spPr>
          <a:xfrm>
            <a:off x="2633472" y="1554480"/>
            <a:ext cx="1947672" cy="1481328"/>
          </a:xfrm>
          <a:prstGeom prst="rect">
            <a:avLst/>
          </a:prstGeom>
          <a:solidFill>
            <a:srgbClr val="F6F8FD"/>
          </a:solidFill>
          <a:ln/>
          <a:effectLst>
            <a:outerShdw sx="100000" sy="100000" kx="0" ky="0" algn="bl" rotWithShape="0" blurRad="101600" dist="25400" dir="5400000">
              <a:srgbClr val="000000">
                <a:alpha val="14000"/>
              </a:srgbClr>
            </a:outerShdw>
          </a:effectLst>
        </p:spPr>
      </p:sp>
      <p:sp>
        <p:nvSpPr>
          <p:cNvPr id="10" name="Shape 8"/>
          <p:cNvSpPr/>
          <p:nvPr/>
        </p:nvSpPr>
        <p:spPr>
          <a:xfrm>
            <a:off x="2633472" y="1554480"/>
            <a:ext cx="1947672" cy="64008"/>
          </a:xfrm>
          <a:prstGeom prst="rect">
            <a:avLst/>
          </a:prstGeom>
          <a:solidFill>
            <a:srgbClr val="1E2761"/>
          </a:solidFill>
          <a:ln/>
        </p:spPr>
      </p:sp>
      <p:sp>
        <p:nvSpPr>
          <p:cNvPr id="11" name="Text 9"/>
          <p:cNvSpPr/>
          <p:nvPr/>
        </p:nvSpPr>
        <p:spPr>
          <a:xfrm>
            <a:off x="2770632" y="1719072"/>
            <a:ext cx="1673352" cy="622158"/>
          </a:xfrm>
          <a:prstGeom prst="rect">
            <a:avLst/>
          </a:prstGeom>
          <a:noFill/>
          <a:ln/>
        </p:spPr>
        <p:txBody>
          <a:bodyPr wrap="square" lIns="0" tIns="0" rIns="0" bIns="0" rtlCol="0" anchor="ctr"/>
          <a:lstStyle/>
          <a:p>
            <a:pPr algn="l" indent="0" marL="0">
              <a:buNone/>
            </a:pPr>
            <a:r>
              <a:rPr lang="en-US" sz="3000" b="1" dirty="0">
                <a:solidFill>
                  <a:srgbClr val="1E2761"/>
                </a:solidFill>
                <a:latin typeface="Georgia" pitchFamily="34" charset="0"/>
                <a:ea typeface="Georgia" pitchFamily="34" charset="-122"/>
                <a:cs typeface="Georgia" pitchFamily="34" charset="-120"/>
              </a:rPr>
              <a:t>1,247</a:t>
            </a:r>
            <a:endParaRPr lang="en-US" sz="3000" dirty="0"/>
          </a:p>
        </p:txBody>
      </p:sp>
      <p:sp>
        <p:nvSpPr>
          <p:cNvPr id="12" name="Text 10"/>
          <p:cNvSpPr/>
          <p:nvPr/>
        </p:nvSpPr>
        <p:spPr>
          <a:xfrm>
            <a:off x="2770632" y="2324771"/>
            <a:ext cx="1673352" cy="274320"/>
          </a:xfrm>
          <a:prstGeom prst="rect">
            <a:avLst/>
          </a:prstGeom>
          <a:noFill/>
          <a:ln/>
        </p:spPr>
        <p:txBody>
          <a:bodyPr wrap="square" lIns="0" tIns="0" rIns="0" bIns="0" rtlCol="0" anchor="ctr"/>
          <a:lstStyle/>
          <a:p>
            <a:pPr algn="l" indent="0" marL="0">
              <a:buNone/>
            </a:pPr>
            <a:r>
              <a:rPr lang="en-US" sz="1050" b="1" spc="200" kern="0" dirty="0">
                <a:solidFill>
                  <a:srgbClr val="5E6B94"/>
                </a:solidFill>
                <a:latin typeface="Calibri" pitchFamily="34" charset="0"/>
                <a:ea typeface="Calibri" pitchFamily="34" charset="-122"/>
                <a:cs typeface="Calibri" pitchFamily="34" charset="-120"/>
              </a:rPr>
              <a:t>PARTICIPANTS</a:t>
            </a:r>
            <a:endParaRPr lang="en-US" sz="1050" dirty="0"/>
          </a:p>
        </p:txBody>
      </p:sp>
      <p:sp>
        <p:nvSpPr>
          <p:cNvPr id="13" name="Text 11"/>
          <p:cNvSpPr/>
          <p:nvPr/>
        </p:nvSpPr>
        <p:spPr>
          <a:xfrm>
            <a:off x="2770632" y="2599091"/>
            <a:ext cx="1673352" cy="363565"/>
          </a:xfrm>
          <a:prstGeom prst="rect">
            <a:avLst/>
          </a:prstGeom>
          <a:noFill/>
          <a:ln/>
        </p:spPr>
        <p:txBody>
          <a:bodyPr wrap="square" lIns="0" tIns="0" rIns="0" bIns="0" rtlCol="0" anchor="t"/>
          <a:lstStyle/>
          <a:p>
            <a:pPr algn="l" indent="0" marL="0">
              <a:buNone/>
            </a:pPr>
            <a:r>
              <a:rPr lang="en-US" sz="1000" dirty="0">
                <a:solidFill>
                  <a:srgbClr val="5E6B94"/>
                </a:solidFill>
                <a:latin typeface="Calibri" pitchFamily="34" charset="0"/>
                <a:ea typeface="Calibri" pitchFamily="34" charset="-122"/>
                <a:cs typeface="Calibri" pitchFamily="34" charset="-120"/>
              </a:rPr>
              <a:t>Across 4 manufacturing sites</a:t>
            </a:r>
            <a:endParaRPr lang="en-US" sz="1000" dirty="0"/>
          </a:p>
        </p:txBody>
      </p:sp>
      <p:sp>
        <p:nvSpPr>
          <p:cNvPr id="14" name="Shape 12"/>
          <p:cNvSpPr/>
          <p:nvPr/>
        </p:nvSpPr>
        <p:spPr>
          <a:xfrm>
            <a:off x="4764024" y="1554480"/>
            <a:ext cx="1947672" cy="1481328"/>
          </a:xfrm>
          <a:prstGeom prst="rect">
            <a:avLst/>
          </a:prstGeom>
          <a:solidFill>
            <a:srgbClr val="F6F8FD"/>
          </a:solidFill>
          <a:ln/>
          <a:effectLst>
            <a:outerShdw sx="100000" sy="100000" kx="0" ky="0" algn="bl" rotWithShape="0" blurRad="101600" dist="25400" dir="5400000">
              <a:srgbClr val="000000">
                <a:alpha val="14000"/>
              </a:srgbClr>
            </a:outerShdw>
          </a:effectLst>
        </p:spPr>
      </p:sp>
      <p:sp>
        <p:nvSpPr>
          <p:cNvPr id="15" name="Shape 13"/>
          <p:cNvSpPr/>
          <p:nvPr/>
        </p:nvSpPr>
        <p:spPr>
          <a:xfrm>
            <a:off x="4764024" y="1554480"/>
            <a:ext cx="1947672" cy="64008"/>
          </a:xfrm>
          <a:prstGeom prst="rect">
            <a:avLst/>
          </a:prstGeom>
          <a:solidFill>
            <a:srgbClr val="1E2761"/>
          </a:solidFill>
          <a:ln/>
        </p:spPr>
      </p:sp>
      <p:sp>
        <p:nvSpPr>
          <p:cNvPr id="16" name="Text 14"/>
          <p:cNvSpPr/>
          <p:nvPr/>
        </p:nvSpPr>
        <p:spPr>
          <a:xfrm>
            <a:off x="4901184" y="1719072"/>
            <a:ext cx="1673352" cy="622158"/>
          </a:xfrm>
          <a:prstGeom prst="rect">
            <a:avLst/>
          </a:prstGeom>
          <a:noFill/>
          <a:ln/>
        </p:spPr>
        <p:txBody>
          <a:bodyPr wrap="square" lIns="0" tIns="0" rIns="0" bIns="0" rtlCol="0" anchor="ctr"/>
          <a:lstStyle/>
          <a:p>
            <a:pPr algn="l" indent="0" marL="0">
              <a:buNone/>
            </a:pPr>
            <a:r>
              <a:rPr lang="en-US" sz="3000" b="1" dirty="0">
                <a:solidFill>
                  <a:srgbClr val="1E2761"/>
                </a:solidFill>
                <a:latin typeface="Georgia" pitchFamily="34" charset="0"/>
                <a:ea typeface="Georgia" pitchFamily="34" charset="-122"/>
                <a:cs typeface="Georgia" pitchFamily="34" charset="-120"/>
              </a:rPr>
              <a:t>93%</a:t>
            </a:r>
            <a:endParaRPr lang="en-US" sz="3000" dirty="0"/>
          </a:p>
        </p:txBody>
      </p:sp>
      <p:sp>
        <p:nvSpPr>
          <p:cNvPr id="17" name="Text 15"/>
          <p:cNvSpPr/>
          <p:nvPr/>
        </p:nvSpPr>
        <p:spPr>
          <a:xfrm>
            <a:off x="4901184" y="2324771"/>
            <a:ext cx="1673352" cy="274320"/>
          </a:xfrm>
          <a:prstGeom prst="rect">
            <a:avLst/>
          </a:prstGeom>
          <a:noFill/>
          <a:ln/>
        </p:spPr>
        <p:txBody>
          <a:bodyPr wrap="square" lIns="0" tIns="0" rIns="0" bIns="0" rtlCol="0" anchor="ctr"/>
          <a:lstStyle/>
          <a:p>
            <a:pPr algn="l" indent="0" marL="0">
              <a:buNone/>
            </a:pPr>
            <a:r>
              <a:rPr lang="en-US" sz="1050" b="1" spc="200" kern="0" dirty="0">
                <a:solidFill>
                  <a:srgbClr val="5E6B94"/>
                </a:solidFill>
                <a:latin typeface="Calibri" pitchFamily="34" charset="0"/>
                <a:ea typeface="Calibri" pitchFamily="34" charset="-122"/>
                <a:cs typeface="Calibri" pitchFamily="34" charset="-120"/>
              </a:rPr>
              <a:t>ENROLLMENT</a:t>
            </a:r>
            <a:endParaRPr lang="en-US" sz="1050" dirty="0"/>
          </a:p>
        </p:txBody>
      </p:sp>
      <p:sp>
        <p:nvSpPr>
          <p:cNvPr id="18" name="Text 16"/>
          <p:cNvSpPr/>
          <p:nvPr/>
        </p:nvSpPr>
        <p:spPr>
          <a:xfrm>
            <a:off x="4901184" y="2599091"/>
            <a:ext cx="1673352" cy="363565"/>
          </a:xfrm>
          <a:prstGeom prst="rect">
            <a:avLst/>
          </a:prstGeom>
          <a:noFill/>
          <a:ln/>
        </p:spPr>
        <p:txBody>
          <a:bodyPr wrap="square" lIns="0" tIns="0" rIns="0" bIns="0" rtlCol="0" anchor="t"/>
          <a:lstStyle/>
          <a:p>
            <a:pPr algn="l" indent="0" marL="0">
              <a:buNone/>
            </a:pPr>
            <a:r>
              <a:rPr lang="en-US" sz="1000" dirty="0">
                <a:solidFill>
                  <a:srgbClr val="5E6B94"/>
                </a:solidFill>
                <a:latin typeface="Calibri" pitchFamily="34" charset="0"/>
                <a:ea typeface="Calibri" pitchFamily="34" charset="-122"/>
                <a:cs typeface="Calibri" pitchFamily="34" charset="-120"/>
              </a:rPr>
              <a:t>Auto-enroll at 6% default</a:t>
            </a:r>
            <a:endParaRPr lang="en-US" sz="1000" dirty="0"/>
          </a:p>
        </p:txBody>
      </p:sp>
      <p:sp>
        <p:nvSpPr>
          <p:cNvPr id="19" name="Shape 17"/>
          <p:cNvSpPr/>
          <p:nvPr/>
        </p:nvSpPr>
        <p:spPr>
          <a:xfrm>
            <a:off x="6894576" y="1554480"/>
            <a:ext cx="1947672" cy="1481328"/>
          </a:xfrm>
          <a:prstGeom prst="rect">
            <a:avLst/>
          </a:prstGeom>
          <a:solidFill>
            <a:srgbClr val="F6F8FD"/>
          </a:solidFill>
          <a:ln/>
          <a:effectLst>
            <a:outerShdw sx="100000" sy="100000" kx="0" ky="0" algn="bl" rotWithShape="0" blurRad="101600" dist="25400" dir="5400000">
              <a:srgbClr val="000000">
                <a:alpha val="14000"/>
              </a:srgbClr>
            </a:outerShdw>
          </a:effectLst>
        </p:spPr>
      </p:sp>
      <p:sp>
        <p:nvSpPr>
          <p:cNvPr id="20" name="Shape 18"/>
          <p:cNvSpPr/>
          <p:nvPr/>
        </p:nvSpPr>
        <p:spPr>
          <a:xfrm>
            <a:off x="6894576" y="1554480"/>
            <a:ext cx="1947672" cy="64008"/>
          </a:xfrm>
          <a:prstGeom prst="rect">
            <a:avLst/>
          </a:prstGeom>
          <a:solidFill>
            <a:srgbClr val="1E2761"/>
          </a:solidFill>
          <a:ln/>
        </p:spPr>
      </p:sp>
      <p:sp>
        <p:nvSpPr>
          <p:cNvPr id="21" name="Text 19"/>
          <p:cNvSpPr/>
          <p:nvPr/>
        </p:nvSpPr>
        <p:spPr>
          <a:xfrm>
            <a:off x="7031736" y="1719072"/>
            <a:ext cx="1673352" cy="622158"/>
          </a:xfrm>
          <a:prstGeom prst="rect">
            <a:avLst/>
          </a:prstGeom>
          <a:noFill/>
          <a:ln/>
        </p:spPr>
        <p:txBody>
          <a:bodyPr wrap="square" lIns="0" tIns="0" rIns="0" bIns="0" rtlCol="0" anchor="ctr"/>
          <a:lstStyle/>
          <a:p>
            <a:pPr algn="l" indent="0" marL="0">
              <a:buNone/>
            </a:pPr>
            <a:r>
              <a:rPr lang="en-US" sz="3000" b="1" dirty="0">
                <a:solidFill>
                  <a:srgbClr val="1E2761"/>
                </a:solidFill>
                <a:latin typeface="Georgia" pitchFamily="34" charset="0"/>
                <a:ea typeface="Georgia" pitchFamily="34" charset="-122"/>
                <a:cs typeface="Georgia" pitchFamily="34" charset="-120"/>
              </a:rPr>
              <a:t>7.4%</a:t>
            </a:r>
            <a:endParaRPr lang="en-US" sz="3000" dirty="0"/>
          </a:p>
        </p:txBody>
      </p:sp>
      <p:sp>
        <p:nvSpPr>
          <p:cNvPr id="22" name="Text 20"/>
          <p:cNvSpPr/>
          <p:nvPr/>
        </p:nvSpPr>
        <p:spPr>
          <a:xfrm>
            <a:off x="7031736" y="2324771"/>
            <a:ext cx="1673352" cy="274320"/>
          </a:xfrm>
          <a:prstGeom prst="rect">
            <a:avLst/>
          </a:prstGeom>
          <a:noFill/>
          <a:ln/>
        </p:spPr>
        <p:txBody>
          <a:bodyPr wrap="square" lIns="0" tIns="0" rIns="0" bIns="0" rtlCol="0" anchor="ctr"/>
          <a:lstStyle/>
          <a:p>
            <a:pPr algn="l" indent="0" marL="0">
              <a:buNone/>
            </a:pPr>
            <a:r>
              <a:rPr lang="en-US" sz="1050" b="1" spc="200" kern="0" dirty="0">
                <a:solidFill>
                  <a:srgbClr val="5E6B94"/>
                </a:solidFill>
                <a:latin typeface="Calibri" pitchFamily="34" charset="0"/>
                <a:ea typeface="Calibri" pitchFamily="34" charset="-122"/>
                <a:cs typeface="Calibri" pitchFamily="34" charset="-120"/>
              </a:rPr>
              <a:t>AVG. DEFERRAL</a:t>
            </a:r>
            <a:endParaRPr lang="en-US" sz="1050" dirty="0"/>
          </a:p>
        </p:txBody>
      </p:sp>
      <p:sp>
        <p:nvSpPr>
          <p:cNvPr id="23" name="Text 21"/>
          <p:cNvSpPr/>
          <p:nvPr/>
        </p:nvSpPr>
        <p:spPr>
          <a:xfrm>
            <a:off x="7031736" y="2599091"/>
            <a:ext cx="1673352" cy="363565"/>
          </a:xfrm>
          <a:prstGeom prst="rect">
            <a:avLst/>
          </a:prstGeom>
          <a:noFill/>
          <a:ln/>
        </p:spPr>
        <p:txBody>
          <a:bodyPr wrap="square" lIns="0" tIns="0" rIns="0" bIns="0" rtlCol="0" anchor="t"/>
          <a:lstStyle/>
          <a:p>
            <a:pPr algn="l" indent="0" marL="0">
              <a:buNone/>
            </a:pPr>
            <a:r>
              <a:rPr lang="en-US" sz="1000" dirty="0">
                <a:solidFill>
                  <a:srgbClr val="5E6B94"/>
                </a:solidFill>
                <a:latin typeface="Calibri" pitchFamily="34" charset="0"/>
                <a:ea typeface="Calibri" pitchFamily="34" charset="-122"/>
                <a:cs typeface="Calibri" pitchFamily="34" charset="-120"/>
              </a:rPr>
              <a:t>Target: 8.0% by year-end</a:t>
            </a:r>
            <a:endParaRPr lang="en-US" sz="1000" dirty="0"/>
          </a:p>
        </p:txBody>
      </p:sp>
      <p:sp>
        <p:nvSpPr>
          <p:cNvPr id="24" name="Shape 22"/>
          <p:cNvSpPr/>
          <p:nvPr/>
        </p:nvSpPr>
        <p:spPr>
          <a:xfrm>
            <a:off x="502920" y="3310128"/>
            <a:ext cx="8138160" cy="1207008"/>
          </a:xfrm>
          <a:prstGeom prst="rect">
            <a:avLst/>
          </a:prstGeom>
          <a:solidFill>
            <a:srgbClr val="F6F8FD"/>
          </a:solidFill>
          <a:ln/>
        </p:spPr>
      </p:sp>
      <p:sp>
        <p:nvSpPr>
          <p:cNvPr id="25" name="Shape 23"/>
          <p:cNvSpPr/>
          <p:nvPr/>
        </p:nvSpPr>
        <p:spPr>
          <a:xfrm>
            <a:off x="777240" y="3602736"/>
            <a:ext cx="621792" cy="621792"/>
          </a:xfrm>
          <a:prstGeom prst="ellipse">
            <a:avLst/>
          </a:prstGeom>
          <a:solidFill>
            <a:srgbClr val="1E2761"/>
          </a:solidFill>
          <a:ln/>
        </p:spPr>
      </p:sp>
      <p:pic>
        <p:nvPicPr>
          <p:cNvPr id="26" name="Image 0" descr="preencoded.png">    </p:cNvPr>
          <p:cNvPicPr>
            <a:picLocks noChangeAspect="1"/>
          </p:cNvPicPr>
          <p:nvPr/>
        </p:nvPicPr>
        <p:blipFill>
          <a:blip r:embed="rId1"/>
          <a:stretch>
            <a:fillRect/>
          </a:stretch>
        </p:blipFill>
        <p:spPr>
          <a:xfrm>
            <a:off x="932688" y="3758184"/>
            <a:ext cx="310896" cy="310896"/>
          </a:xfrm>
          <a:prstGeom prst="rect">
            <a:avLst/>
          </a:prstGeom>
        </p:spPr>
      </p:pic>
      <p:sp>
        <p:nvSpPr>
          <p:cNvPr id="27" name="Text 24"/>
          <p:cNvSpPr/>
          <p:nvPr/>
        </p:nvSpPr>
        <p:spPr>
          <a:xfrm>
            <a:off x="1600200" y="3456432"/>
            <a:ext cx="6858000" cy="960120"/>
          </a:xfrm>
          <a:prstGeom prst="rect">
            <a:avLst/>
          </a:prstGeom>
          <a:noFill/>
          <a:ln/>
        </p:spPr>
        <p:txBody>
          <a:bodyPr wrap="square" lIns="0" tIns="0" rIns="0" bIns="0" rtlCol="0" anchor="ctr"/>
          <a:lstStyle/>
          <a:p>
            <a:pPr indent="0" marL="0">
              <a:lnSpc>
                <a:spcPts val="1600"/>
              </a:lnSpc>
              <a:buNone/>
            </a:pPr>
            <a:r>
              <a:rPr lang="en-US" sz="1200" b="1" dirty="0">
                <a:solidFill>
                  <a:srgbClr val="1E2761"/>
                </a:solidFill>
                <a:latin typeface="Calibri" pitchFamily="34" charset="0"/>
                <a:ea typeface="Calibri" pitchFamily="34" charset="-122"/>
                <a:cs typeface="Calibri" pitchFamily="34" charset="-120"/>
              </a:rPr>
              <a:t>Why it matters:  </a:t>
            </a:r>
            <a:pPr indent="0" marL="0">
              <a:lnSpc>
                <a:spcPts val="1600"/>
              </a:lnSpc>
              <a:buNone/>
            </a:pPr>
            <a:r>
              <a:rPr lang="en-US" sz="1200" dirty="0">
                <a:solidFill>
                  <a:srgbClr val="5E6B94"/>
                </a:solidFill>
                <a:latin typeface="Calibri" pitchFamily="34" charset="0"/>
                <a:ea typeface="Calibri" pitchFamily="34" charset="-122"/>
                <a:cs typeface="Calibri" pitchFamily="34" charset="-120"/>
              </a:rPr>
              <a:t>Meridian converted from a bundled recordkeeper in March with zero missed payrolls. Participation and deferrals are already ahead of plan-design assumptions, which puts the plan on track for its first favorable committee review in Q4.</a:t>
            </a:r>
            <a:endParaRPr lang="en-US" sz="1200" dirty="0"/>
          </a:p>
        </p:txBody>
      </p:sp>
      <p:sp>
        <p:nvSpPr>
          <p:cNvPr id="28" name="Shape 25"/>
          <p:cNvSpPr/>
          <p:nvPr/>
        </p:nvSpPr>
        <p:spPr>
          <a:xfrm>
            <a:off x="0" y="5070348"/>
            <a:ext cx="9144000" cy="73152"/>
          </a:xfrm>
          <a:prstGeom prst="rect">
            <a:avLst/>
          </a:prstGeom>
          <a:solidFill>
            <a:srgbClr val="1E2761"/>
          </a:solidFill>
          <a:ln/>
        </p:spPr>
      </p:sp>
      <p:sp>
        <p:nvSpPr>
          <p:cNvPr id="29" name="Text 26"/>
          <p:cNvSpPr/>
          <p:nvPr/>
        </p:nvSpPr>
        <p:spPr>
          <a:xfrm>
            <a:off x="502920" y="4809744"/>
            <a:ext cx="5486400" cy="228600"/>
          </a:xfrm>
          <a:prstGeom prst="rect">
            <a:avLst/>
          </a:prstGeom>
          <a:noFill/>
          <a:ln/>
        </p:spPr>
        <p:txBody>
          <a:bodyPr wrap="square" lIns="0" tIns="0" rIns="0" bIns="0" rtlCol="0" anchor="ctr"/>
          <a:lstStyle/>
          <a:p>
            <a:pPr indent="0" marL="0">
              <a:buNone/>
            </a:pPr>
            <a:r>
              <a:rPr lang="en-US" sz="850" dirty="0">
                <a:solidFill>
                  <a:srgbClr val="5E6B94"/>
                </a:solidFill>
                <a:latin typeface="Calibri" pitchFamily="34" charset="0"/>
                <a:ea typeface="Calibri" pitchFamily="34" charset="-122"/>
                <a:cs typeface="Calibri" pitchFamily="34" charset="-120"/>
              </a:rPr>
              <a:t>Executive Handoff Summary  ·  Meridian Manufacturing 401(k)</a:t>
            </a:r>
            <a:endParaRPr lang="en-US" sz="850" dirty="0"/>
          </a:p>
        </p:txBody>
      </p:sp>
      <p:sp>
        <p:nvSpPr>
          <p:cNvPr id="30" name="Text 27"/>
          <p:cNvSpPr/>
          <p:nvPr/>
        </p:nvSpPr>
        <p:spPr>
          <a:xfrm>
            <a:off x="8321040" y="4809744"/>
            <a:ext cx="320040" cy="228600"/>
          </a:xfrm>
          <a:prstGeom prst="rect">
            <a:avLst/>
          </a:prstGeom>
          <a:noFill/>
          <a:ln/>
        </p:spPr>
        <p:txBody>
          <a:bodyPr wrap="square" lIns="0" tIns="0" rIns="0" bIns="0" rtlCol="0" anchor="ctr"/>
          <a:lstStyle/>
          <a:p>
            <a:pPr algn="r" indent="0" marL="0">
              <a:buNone/>
            </a:pPr>
            <a:r>
              <a:rPr lang="en-US" sz="850" b="1" dirty="0">
                <a:solidFill>
                  <a:srgbClr val="5E6B94"/>
                </a:solidFill>
                <a:latin typeface="Calibri" pitchFamily="34" charset="0"/>
                <a:ea typeface="Calibri" pitchFamily="34" charset="-122"/>
                <a:cs typeface="Calibri" pitchFamily="34" charset="-120"/>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56032"/>
          </a:xfrm>
          <a:prstGeom prst="rect">
            <a:avLst/>
          </a:prstGeom>
          <a:noFill/>
          <a:ln/>
        </p:spPr>
        <p:txBody>
          <a:bodyPr wrap="square" lIns="0" tIns="0" rIns="0" bIns="0" rtlCol="0" anchor="ctr"/>
          <a:lstStyle/>
          <a:p>
            <a:pPr indent="0" marL="0">
              <a:buNone/>
            </a:pPr>
            <a:r>
              <a:rPr lang="en-US" sz="1100" b="1" spc="300" kern="0" dirty="0">
                <a:solidFill>
                  <a:srgbClr val="9FBEE8"/>
                </a:solidFill>
                <a:latin typeface="Calibri" pitchFamily="34" charset="0"/>
                <a:ea typeface="Calibri" pitchFamily="34" charset="-122"/>
                <a:cs typeface="Calibri" pitchFamily="34" charset="-120"/>
              </a:rPr>
              <a:t>EXECUTIVE OVERVIEW</a:t>
            </a:r>
            <a:endParaRPr lang="en-US" sz="1100" dirty="0"/>
          </a:p>
        </p:txBody>
      </p:sp>
      <p:sp>
        <p:nvSpPr>
          <p:cNvPr id="3" name="Text 1"/>
          <p:cNvSpPr/>
          <p:nvPr/>
        </p:nvSpPr>
        <p:spPr>
          <a:xfrm>
            <a:off x="502920" y="548640"/>
            <a:ext cx="8229600" cy="566928"/>
          </a:xfrm>
          <a:prstGeom prst="rect">
            <a:avLst/>
          </a:prstGeom>
          <a:noFill/>
          <a:ln/>
        </p:spPr>
        <p:txBody>
          <a:bodyPr wrap="square" lIns="0" tIns="0" rIns="0" bIns="0" rtlCol="0" anchor="t"/>
          <a:lstStyle/>
          <a:p>
            <a:pPr indent="0" marL="0">
              <a:buNone/>
            </a:pPr>
            <a:r>
              <a:rPr lang="en-US" sz="3000" b="1" dirty="0">
                <a:solidFill>
                  <a:srgbClr val="1E2761"/>
                </a:solidFill>
                <a:latin typeface="Georgia" pitchFamily="34" charset="0"/>
                <a:ea typeface="Georgia" pitchFamily="34" charset="-122"/>
                <a:cs typeface="Georgia" pitchFamily="34" charset="-120"/>
              </a:rPr>
              <a:t>Why this handoff, and why now</a:t>
            </a:r>
            <a:endParaRPr lang="en-US" sz="3000" dirty="0"/>
          </a:p>
        </p:txBody>
      </p:sp>
      <p:sp>
        <p:nvSpPr>
          <p:cNvPr id="4" name="Text 2"/>
          <p:cNvSpPr/>
          <p:nvPr/>
        </p:nvSpPr>
        <p:spPr>
          <a:xfrm>
            <a:off x="502920" y="1481328"/>
            <a:ext cx="4160520" cy="3017520"/>
          </a:xfrm>
          <a:prstGeom prst="rect">
            <a:avLst/>
          </a:prstGeom>
          <a:noFill/>
          <a:ln/>
        </p:spPr>
        <p:txBody>
          <a:bodyPr wrap="square" lIns="0" tIns="0" rIns="0" bIns="0" rtlCol="0" anchor="t"/>
          <a:lstStyle/>
          <a:p>
            <a:pPr indent="0" marL="0">
              <a:lnSpc>
                <a:spcPts val="1800"/>
              </a:lnSpc>
              <a:buNone/>
            </a:pPr>
            <a:r>
              <a:rPr lang="en-US" sz="1250" dirty="0">
                <a:solidFill>
                  <a:srgbClr val="5E6B94"/>
                </a:solidFill>
                <a:latin typeface="Calibri" pitchFamily="34" charset="0"/>
                <a:ea typeface="Calibri" pitchFamily="34" charset="-122"/>
                <a:cs typeface="Calibri" pitchFamily="34" charset="-120"/>
              </a:rPr>
              <a:t>The 14-month implementation of the Meridian Manufacturing 401(k) plan is complete. Conversion, payroll integration, and the first full quarter of live operation have all closed without material issues.</a:t>
            </a:r>
            <a:endParaRPr lang="en-US" sz="1250" dirty="0"/>
          </a:p>
          <a:p>
            <a:pPr indent="0" marL="0">
              <a:lnSpc>
                <a:spcPts val="1800"/>
              </a:lnSpc>
              <a:buNone/>
            </a:pPr>
            <a:endParaRPr lang="en-US" sz="1250" dirty="0"/>
          </a:p>
          <a:p>
            <a:pPr indent="0" marL="0">
              <a:lnSpc>
                <a:spcPts val="1800"/>
              </a:lnSpc>
              <a:buNone/>
            </a:pPr>
            <a:r>
              <a:rPr lang="en-US" sz="1250" dirty="0">
                <a:solidFill>
                  <a:srgbClr val="5E6B94"/>
                </a:solidFill>
                <a:latin typeface="Calibri" pitchFamily="34" charset="0"/>
                <a:ea typeface="Calibri" pitchFamily="34" charset="-122"/>
                <a:cs typeface="Calibri" pitchFamily="34" charset="-120"/>
              </a:rPr>
              <a:t>This briefing transfers ownership from the implementation team to the ongoing service team. It captures the state of the plan, the open items that need watching, and the commitments made to the client along the way.</a:t>
            </a:r>
            <a:endParaRPr lang="en-US" sz="1250" dirty="0"/>
          </a:p>
        </p:txBody>
      </p:sp>
      <p:sp>
        <p:nvSpPr>
          <p:cNvPr id="5" name="Shape 3"/>
          <p:cNvSpPr/>
          <p:nvPr/>
        </p:nvSpPr>
        <p:spPr>
          <a:xfrm>
            <a:off x="4983480" y="1481328"/>
            <a:ext cx="566928" cy="566928"/>
          </a:xfrm>
          <a:prstGeom prst="ellipse">
            <a:avLst/>
          </a:prstGeom>
          <a:solidFill>
            <a:srgbClr val="CADCFC"/>
          </a:solidFill>
          <a:ln/>
        </p:spPr>
      </p:sp>
      <p:pic>
        <p:nvPicPr>
          <p:cNvPr id="6" name="Image 0" descr="preencoded.png">    </p:cNvPr>
          <p:cNvPicPr>
            <a:picLocks noChangeAspect="1"/>
          </p:cNvPicPr>
          <p:nvPr/>
        </p:nvPicPr>
        <p:blipFill>
          <a:blip r:embed="rId1"/>
          <a:stretch>
            <a:fillRect/>
          </a:stretch>
        </p:blipFill>
        <p:spPr>
          <a:xfrm>
            <a:off x="5125212" y="1623060"/>
            <a:ext cx="283464" cy="283464"/>
          </a:xfrm>
          <a:prstGeom prst="rect">
            <a:avLst/>
          </a:prstGeom>
        </p:spPr>
      </p:pic>
      <p:sp>
        <p:nvSpPr>
          <p:cNvPr id="7" name="Text 4"/>
          <p:cNvSpPr/>
          <p:nvPr/>
        </p:nvSpPr>
        <p:spPr>
          <a:xfrm>
            <a:off x="5715000" y="1463040"/>
            <a:ext cx="2926080" cy="292608"/>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Clean conversion</a:t>
            </a:r>
            <a:endParaRPr lang="en-US" sz="1350" dirty="0"/>
          </a:p>
        </p:txBody>
      </p:sp>
      <p:sp>
        <p:nvSpPr>
          <p:cNvPr id="8" name="Text 5"/>
          <p:cNvSpPr/>
          <p:nvPr/>
        </p:nvSpPr>
        <p:spPr>
          <a:xfrm>
            <a:off x="5715000" y="1755648"/>
            <a:ext cx="2926080" cy="566928"/>
          </a:xfrm>
          <a:prstGeom prst="rect">
            <a:avLst/>
          </a:prstGeom>
          <a:noFill/>
          <a:ln/>
        </p:spPr>
        <p:txBody>
          <a:bodyPr wrap="square" lIns="0" tIns="0" rIns="0" bIns="0" rtlCol="0" anchor="ctr"/>
          <a:lstStyle/>
          <a:p>
            <a:pPr indent="0" marL="0">
              <a:lnSpc>
                <a:spcPts val="1300"/>
              </a:lnSpc>
              <a:buNone/>
            </a:pPr>
            <a:r>
              <a:rPr lang="en-US" sz="1050" dirty="0">
                <a:solidFill>
                  <a:srgbClr val="5E6B94"/>
                </a:solidFill>
                <a:latin typeface="Calibri" pitchFamily="34" charset="0"/>
                <a:ea typeface="Calibri" pitchFamily="34" charset="-122"/>
                <a:cs typeface="Calibri" pitchFamily="34" charset="-120"/>
              </a:rPr>
              <a:t>3,900 records migrated; reconciliation variance of $0.00 at close.</a:t>
            </a:r>
            <a:endParaRPr lang="en-US" sz="1050" dirty="0"/>
          </a:p>
        </p:txBody>
      </p:sp>
      <p:sp>
        <p:nvSpPr>
          <p:cNvPr id="9" name="Shape 6"/>
          <p:cNvSpPr/>
          <p:nvPr/>
        </p:nvSpPr>
        <p:spPr>
          <a:xfrm>
            <a:off x="4983480" y="2505456"/>
            <a:ext cx="566928" cy="566928"/>
          </a:xfrm>
          <a:prstGeom prst="ellipse">
            <a:avLst/>
          </a:prstGeom>
          <a:solidFill>
            <a:srgbClr val="CADCFC"/>
          </a:solidFill>
          <a:ln/>
        </p:spPr>
      </p:sp>
      <p:pic>
        <p:nvPicPr>
          <p:cNvPr id="10" name="Image 1" descr="preencoded.png">    </p:cNvPr>
          <p:cNvPicPr>
            <a:picLocks noChangeAspect="1"/>
          </p:cNvPicPr>
          <p:nvPr/>
        </p:nvPicPr>
        <p:blipFill>
          <a:blip r:embed="rId2"/>
          <a:stretch>
            <a:fillRect/>
          </a:stretch>
        </p:blipFill>
        <p:spPr>
          <a:xfrm>
            <a:off x="5125212" y="2647188"/>
            <a:ext cx="283464" cy="283464"/>
          </a:xfrm>
          <a:prstGeom prst="rect">
            <a:avLst/>
          </a:prstGeom>
        </p:spPr>
      </p:pic>
      <p:sp>
        <p:nvSpPr>
          <p:cNvPr id="11" name="Text 7"/>
          <p:cNvSpPr/>
          <p:nvPr/>
        </p:nvSpPr>
        <p:spPr>
          <a:xfrm>
            <a:off x="5715000" y="2487168"/>
            <a:ext cx="2926080" cy="292608"/>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Client relationship</a:t>
            </a:r>
            <a:endParaRPr lang="en-US" sz="1350" dirty="0"/>
          </a:p>
        </p:txBody>
      </p:sp>
      <p:sp>
        <p:nvSpPr>
          <p:cNvPr id="12" name="Text 8"/>
          <p:cNvSpPr/>
          <p:nvPr/>
        </p:nvSpPr>
        <p:spPr>
          <a:xfrm>
            <a:off x="5715000" y="2779776"/>
            <a:ext cx="2926080" cy="566928"/>
          </a:xfrm>
          <a:prstGeom prst="rect">
            <a:avLst/>
          </a:prstGeom>
          <a:noFill/>
          <a:ln/>
        </p:spPr>
        <p:txBody>
          <a:bodyPr wrap="square" lIns="0" tIns="0" rIns="0" bIns="0" rtlCol="0" anchor="ctr"/>
          <a:lstStyle/>
          <a:p>
            <a:pPr indent="0" marL="0">
              <a:lnSpc>
                <a:spcPts val="1300"/>
              </a:lnSpc>
              <a:buNone/>
            </a:pPr>
            <a:r>
              <a:rPr lang="en-US" sz="1050" dirty="0">
                <a:solidFill>
                  <a:srgbClr val="5E6B94"/>
                </a:solidFill>
                <a:latin typeface="Calibri" pitchFamily="34" charset="0"/>
                <a:ea typeface="Calibri" pitchFamily="34" charset="-122"/>
                <a:cs typeface="Calibri" pitchFamily="34" charset="-120"/>
              </a:rPr>
              <a:t>Committee meets quarterly; CFO is the decision maker of record.</a:t>
            </a:r>
            <a:endParaRPr lang="en-US" sz="1050" dirty="0"/>
          </a:p>
        </p:txBody>
      </p:sp>
      <p:sp>
        <p:nvSpPr>
          <p:cNvPr id="13" name="Shape 9"/>
          <p:cNvSpPr/>
          <p:nvPr/>
        </p:nvSpPr>
        <p:spPr>
          <a:xfrm>
            <a:off x="4983480" y="3529584"/>
            <a:ext cx="566928" cy="566928"/>
          </a:xfrm>
          <a:prstGeom prst="ellipse">
            <a:avLst/>
          </a:prstGeom>
          <a:solidFill>
            <a:srgbClr val="CADCFC"/>
          </a:solidFill>
          <a:ln/>
        </p:spPr>
      </p:sp>
      <p:pic>
        <p:nvPicPr>
          <p:cNvPr id="14" name="Image 2" descr="preencoded.png">    </p:cNvPr>
          <p:cNvPicPr>
            <a:picLocks noChangeAspect="1"/>
          </p:cNvPicPr>
          <p:nvPr/>
        </p:nvPicPr>
        <p:blipFill>
          <a:blip r:embed="rId3"/>
          <a:stretch>
            <a:fillRect/>
          </a:stretch>
        </p:blipFill>
        <p:spPr>
          <a:xfrm>
            <a:off x="5125212" y="3671316"/>
            <a:ext cx="283464" cy="283464"/>
          </a:xfrm>
          <a:prstGeom prst="rect">
            <a:avLst/>
          </a:prstGeom>
        </p:spPr>
      </p:pic>
      <p:sp>
        <p:nvSpPr>
          <p:cNvPr id="15" name="Text 10"/>
          <p:cNvSpPr/>
          <p:nvPr/>
        </p:nvSpPr>
        <p:spPr>
          <a:xfrm>
            <a:off x="5715000" y="3511296"/>
            <a:ext cx="2926080" cy="292608"/>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First-year calendar</a:t>
            </a:r>
            <a:endParaRPr lang="en-US" sz="1350" dirty="0"/>
          </a:p>
        </p:txBody>
      </p:sp>
      <p:sp>
        <p:nvSpPr>
          <p:cNvPr id="16" name="Text 11"/>
          <p:cNvSpPr/>
          <p:nvPr/>
        </p:nvSpPr>
        <p:spPr>
          <a:xfrm>
            <a:off x="5715000" y="3803904"/>
            <a:ext cx="2926080" cy="566928"/>
          </a:xfrm>
          <a:prstGeom prst="rect">
            <a:avLst/>
          </a:prstGeom>
          <a:noFill/>
          <a:ln/>
        </p:spPr>
        <p:txBody>
          <a:bodyPr wrap="square" lIns="0" tIns="0" rIns="0" bIns="0" rtlCol="0" anchor="ctr"/>
          <a:lstStyle/>
          <a:p>
            <a:pPr indent="0" marL="0">
              <a:lnSpc>
                <a:spcPts val="1300"/>
              </a:lnSpc>
              <a:buNone/>
            </a:pPr>
            <a:r>
              <a:rPr lang="en-US" sz="1050" dirty="0">
                <a:solidFill>
                  <a:srgbClr val="5E6B94"/>
                </a:solidFill>
                <a:latin typeface="Calibri" pitchFamily="34" charset="0"/>
                <a:ea typeface="Calibri" pitchFamily="34" charset="-122"/>
                <a:cs typeface="Calibri" pitchFamily="34" charset="-120"/>
              </a:rPr>
              <a:t>Compliance testing, audit support, and 5500 filing all scheduled.</a:t>
            </a:r>
            <a:endParaRPr lang="en-US" sz="1050" dirty="0"/>
          </a:p>
        </p:txBody>
      </p:sp>
      <p:sp>
        <p:nvSpPr>
          <p:cNvPr id="17" name="Shape 12"/>
          <p:cNvSpPr/>
          <p:nvPr/>
        </p:nvSpPr>
        <p:spPr>
          <a:xfrm>
            <a:off x="0" y="5070348"/>
            <a:ext cx="9144000" cy="73152"/>
          </a:xfrm>
          <a:prstGeom prst="rect">
            <a:avLst/>
          </a:prstGeom>
          <a:solidFill>
            <a:srgbClr val="1E2761"/>
          </a:solidFill>
          <a:ln/>
        </p:spPr>
      </p:sp>
      <p:sp>
        <p:nvSpPr>
          <p:cNvPr id="18" name="Text 13"/>
          <p:cNvSpPr/>
          <p:nvPr/>
        </p:nvSpPr>
        <p:spPr>
          <a:xfrm>
            <a:off x="502920" y="4809744"/>
            <a:ext cx="5486400" cy="228600"/>
          </a:xfrm>
          <a:prstGeom prst="rect">
            <a:avLst/>
          </a:prstGeom>
          <a:noFill/>
          <a:ln/>
        </p:spPr>
        <p:txBody>
          <a:bodyPr wrap="square" lIns="0" tIns="0" rIns="0" bIns="0" rtlCol="0" anchor="ctr"/>
          <a:lstStyle/>
          <a:p>
            <a:pPr indent="0" marL="0">
              <a:buNone/>
            </a:pPr>
            <a:r>
              <a:rPr lang="en-US" sz="850" dirty="0">
                <a:solidFill>
                  <a:srgbClr val="5E6B94"/>
                </a:solidFill>
                <a:latin typeface="Calibri" pitchFamily="34" charset="0"/>
                <a:ea typeface="Calibri" pitchFamily="34" charset="-122"/>
                <a:cs typeface="Calibri" pitchFamily="34" charset="-120"/>
              </a:rPr>
              <a:t>Executive Handoff Summary  ·  Meridian Manufacturing 401(k)</a:t>
            </a:r>
            <a:endParaRPr lang="en-US" sz="850" dirty="0"/>
          </a:p>
        </p:txBody>
      </p:sp>
      <p:sp>
        <p:nvSpPr>
          <p:cNvPr id="19" name="Text 14"/>
          <p:cNvSpPr/>
          <p:nvPr/>
        </p:nvSpPr>
        <p:spPr>
          <a:xfrm>
            <a:off x="8321040" y="4809744"/>
            <a:ext cx="320040" cy="228600"/>
          </a:xfrm>
          <a:prstGeom prst="rect">
            <a:avLst/>
          </a:prstGeom>
          <a:noFill/>
          <a:ln/>
        </p:spPr>
        <p:txBody>
          <a:bodyPr wrap="square" lIns="0" tIns="0" rIns="0" bIns="0" rtlCol="0" anchor="ctr"/>
          <a:lstStyle/>
          <a:p>
            <a:pPr algn="r" indent="0" marL="0">
              <a:buNone/>
            </a:pPr>
            <a:r>
              <a:rPr lang="en-US" sz="850" b="1" dirty="0">
                <a:solidFill>
                  <a:srgbClr val="5E6B94"/>
                </a:solidFill>
                <a:latin typeface="Calibri" pitchFamily="34" charset="0"/>
                <a:ea typeface="Calibri" pitchFamily="34" charset="-122"/>
                <a:cs typeface="Calibri" pitchFamily="34" charset="-120"/>
              </a:rPr>
              <a:t>04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56032"/>
          </a:xfrm>
          <a:prstGeom prst="rect">
            <a:avLst/>
          </a:prstGeom>
          <a:noFill/>
          <a:ln/>
        </p:spPr>
        <p:txBody>
          <a:bodyPr wrap="square" lIns="0" tIns="0" rIns="0" bIns="0" rtlCol="0" anchor="ctr"/>
          <a:lstStyle/>
          <a:p>
            <a:pPr indent="0" marL="0">
              <a:buNone/>
            </a:pPr>
            <a:r>
              <a:rPr lang="en-US" sz="1100" b="1" spc="300" kern="0" dirty="0">
                <a:solidFill>
                  <a:srgbClr val="9FBEE8"/>
                </a:solidFill>
                <a:latin typeface="Calibri" pitchFamily="34" charset="0"/>
                <a:ea typeface="Calibri" pitchFamily="34" charset="-122"/>
                <a:cs typeface="Calibri" pitchFamily="34" charset="-120"/>
              </a:rPr>
              <a:t>PROJECT STATUS</a:t>
            </a:r>
            <a:endParaRPr lang="en-US" sz="1100" dirty="0"/>
          </a:p>
        </p:txBody>
      </p:sp>
      <p:sp>
        <p:nvSpPr>
          <p:cNvPr id="3" name="Text 1"/>
          <p:cNvSpPr/>
          <p:nvPr/>
        </p:nvSpPr>
        <p:spPr>
          <a:xfrm>
            <a:off x="502920" y="548640"/>
            <a:ext cx="8229600" cy="566928"/>
          </a:xfrm>
          <a:prstGeom prst="rect">
            <a:avLst/>
          </a:prstGeom>
          <a:noFill/>
          <a:ln/>
        </p:spPr>
        <p:txBody>
          <a:bodyPr wrap="square" lIns="0" tIns="0" rIns="0" bIns="0" rtlCol="0" anchor="t"/>
          <a:lstStyle/>
          <a:p>
            <a:pPr indent="0" marL="0">
              <a:buNone/>
            </a:pPr>
            <a:r>
              <a:rPr lang="en-US" sz="3000" b="1" dirty="0">
                <a:solidFill>
                  <a:srgbClr val="1E2761"/>
                </a:solidFill>
                <a:latin typeface="Georgia" pitchFamily="34" charset="0"/>
                <a:ea typeface="Georgia" pitchFamily="34" charset="-122"/>
                <a:cs typeface="Georgia" pitchFamily="34" charset="-120"/>
              </a:rPr>
              <a:t>88% complete, on track</a:t>
            </a:r>
            <a:endParaRPr lang="en-US" sz="3000" dirty="0"/>
          </a:p>
        </p:txBody>
      </p:sp>
      <p:sp>
        <p:nvSpPr>
          <p:cNvPr id="4" name="Shape 2"/>
          <p:cNvSpPr/>
          <p:nvPr/>
        </p:nvSpPr>
        <p:spPr>
          <a:xfrm>
            <a:off x="7452360" y="713232"/>
            <a:ext cx="1188720" cy="310896"/>
          </a:xfrm>
          <a:prstGeom prst="roundRect">
            <a:avLst>
              <a:gd name="adj" fmla="val 50000"/>
            </a:avLst>
          </a:prstGeom>
          <a:solidFill>
            <a:srgbClr val="2E9E6B"/>
          </a:solidFill>
          <a:ln/>
        </p:spPr>
      </p:sp>
      <p:sp>
        <p:nvSpPr>
          <p:cNvPr id="5" name="Text 3"/>
          <p:cNvSpPr/>
          <p:nvPr/>
        </p:nvSpPr>
        <p:spPr>
          <a:xfrm>
            <a:off x="7452360" y="694944"/>
            <a:ext cx="1188720" cy="310896"/>
          </a:xfrm>
          <a:prstGeom prst="rect">
            <a:avLst/>
          </a:prstGeom>
          <a:noFill/>
          <a:ln/>
        </p:spPr>
        <p:txBody>
          <a:bodyPr wrap="square" lIns="0" tIns="0" rIns="0" bIns="0" rtlCol="0" anchor="ctr"/>
          <a:lstStyle/>
          <a:p>
            <a:pPr algn="ctr" indent="0" marL="0">
              <a:buNone/>
            </a:pPr>
            <a:r>
              <a:rPr lang="en-US" sz="900" b="1" spc="150" kern="0" dirty="0">
                <a:solidFill>
                  <a:srgbClr val="FFFFFF"/>
                </a:solidFill>
              </a:rPr>
              <a:t>ON TRACK</a:t>
            </a:r>
            <a:endParaRPr lang="en-US" sz="900" dirty="0"/>
          </a:p>
        </p:txBody>
      </p:sp>
      <p:graphicFrame>
        <p:nvGraphicFramePr>
          <p:cNvPr id="6" name="Chart 0" descr=""/>
          <p:cNvGraphicFramePr/>
          <p:nvPr/>
        </p:nvGraphicFramePr>
        <p:xfrm>
          <a:off x="411480" y="1554480"/>
          <a:ext cx="4892040" cy="30632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577840" y="1554480"/>
            <a:ext cx="3063240" cy="3063240"/>
          </a:xfrm>
          <a:prstGeom prst="rect">
            <a:avLst/>
          </a:prstGeom>
          <a:solidFill>
            <a:srgbClr val="F6F8FD"/>
          </a:solidFill>
          <a:ln/>
        </p:spPr>
      </p:sp>
      <p:sp>
        <p:nvSpPr>
          <p:cNvPr id="8" name="Text 5"/>
          <p:cNvSpPr/>
          <p:nvPr/>
        </p:nvSpPr>
        <p:spPr>
          <a:xfrm>
            <a:off x="5806440" y="1755648"/>
            <a:ext cx="2651760" cy="228600"/>
          </a:xfrm>
          <a:prstGeom prst="rect">
            <a:avLst/>
          </a:prstGeom>
          <a:noFill/>
          <a:ln/>
        </p:spPr>
        <p:txBody>
          <a:bodyPr wrap="square" lIns="0" tIns="0" rIns="0" bIns="0" rtlCol="0" anchor="ctr"/>
          <a:lstStyle/>
          <a:p>
            <a:pPr indent="0" marL="0">
              <a:buNone/>
            </a:pPr>
            <a:r>
              <a:rPr lang="en-US" sz="1000" b="1" spc="250" kern="0" dirty="0">
                <a:solidFill>
                  <a:srgbClr val="9FBEE8"/>
                </a:solidFill>
                <a:latin typeface="Calibri" pitchFamily="34" charset="0"/>
                <a:ea typeface="Calibri" pitchFamily="34" charset="-122"/>
                <a:cs typeface="Calibri" pitchFamily="34" charset="-120"/>
              </a:rPr>
              <a:t>THIS PERIOD</a:t>
            </a:r>
            <a:endParaRPr lang="en-US" sz="1000" dirty="0"/>
          </a:p>
        </p:txBody>
      </p:sp>
      <p:sp>
        <p:nvSpPr>
          <p:cNvPr id="9" name="Text 6"/>
          <p:cNvSpPr/>
          <p:nvPr/>
        </p:nvSpPr>
        <p:spPr>
          <a:xfrm>
            <a:off x="5806440" y="2011680"/>
            <a:ext cx="2651760" cy="118872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1E2761"/>
                </a:solidFill>
                <a:latin typeface="Calibri" pitchFamily="34" charset="0"/>
                <a:ea typeface="Calibri" pitchFamily="34" charset="-122"/>
                <a:cs typeface="Calibri" pitchFamily="34" charset="-120"/>
              </a:rPr>
              <a:t>Closed final payroll-file exceptions with ADP</a:t>
            </a:r>
            <a:endParaRPr lang="en-US" sz="1050" dirty="0"/>
          </a:p>
          <a:p>
            <a:pPr marL="342900" indent="-342900">
              <a:spcAft>
                <a:spcPts val="600"/>
              </a:spcAft>
              <a:buSzPct val="100000"/>
              <a:buChar char="•"/>
            </a:pPr>
            <a:r>
              <a:rPr lang="en-US" sz="1050" dirty="0">
                <a:solidFill>
                  <a:srgbClr val="1E2761"/>
                </a:solidFill>
                <a:latin typeface="Calibri" pitchFamily="34" charset="0"/>
                <a:ea typeface="Calibri" pitchFamily="34" charset="-122"/>
                <a:cs typeface="Calibri" pitchFamily="34" charset="-120"/>
              </a:rPr>
              <a:t>Delivered enrollment kits to the two Ohio plants</a:t>
            </a:r>
            <a:endParaRPr lang="en-US" sz="1050" dirty="0"/>
          </a:p>
          <a:p>
            <a:pPr marL="342900" indent="-342900">
              <a:spcAft>
                <a:spcPts val="600"/>
              </a:spcAft>
              <a:buSzPct val="100000"/>
              <a:buChar char="•"/>
            </a:pPr>
            <a:r>
              <a:rPr lang="en-US" sz="1050" dirty="0">
                <a:solidFill>
                  <a:srgbClr val="1E2761"/>
                </a:solidFill>
                <a:latin typeface="Calibri" pitchFamily="34" charset="0"/>
                <a:ea typeface="Calibri" pitchFamily="34" charset="-122"/>
                <a:cs typeface="Calibri" pitchFamily="34" charset="-120"/>
              </a:rPr>
              <a:t>Scheduled Q3 investment committee review</a:t>
            </a:r>
            <a:endParaRPr lang="en-US" sz="1050" dirty="0"/>
          </a:p>
        </p:txBody>
      </p:sp>
      <p:sp>
        <p:nvSpPr>
          <p:cNvPr id="10" name="Text 7"/>
          <p:cNvSpPr/>
          <p:nvPr/>
        </p:nvSpPr>
        <p:spPr>
          <a:xfrm>
            <a:off x="5806440" y="3218688"/>
            <a:ext cx="2651760" cy="228600"/>
          </a:xfrm>
          <a:prstGeom prst="rect">
            <a:avLst/>
          </a:prstGeom>
          <a:noFill/>
          <a:ln/>
        </p:spPr>
        <p:txBody>
          <a:bodyPr wrap="square" lIns="0" tIns="0" rIns="0" bIns="0" rtlCol="0" anchor="ctr"/>
          <a:lstStyle/>
          <a:p>
            <a:pPr indent="0" marL="0">
              <a:buNone/>
            </a:pPr>
            <a:r>
              <a:rPr lang="en-US" sz="1000" b="1" spc="250" kern="0" dirty="0">
                <a:solidFill>
                  <a:srgbClr val="9FBEE8"/>
                </a:solidFill>
                <a:latin typeface="Calibri" pitchFamily="34" charset="0"/>
                <a:ea typeface="Calibri" pitchFamily="34" charset="-122"/>
                <a:cs typeface="Calibri" pitchFamily="34" charset="-120"/>
              </a:rPr>
              <a:t>NEXT PERIOD</a:t>
            </a:r>
            <a:endParaRPr lang="en-US" sz="1000" dirty="0"/>
          </a:p>
        </p:txBody>
      </p:sp>
      <p:sp>
        <p:nvSpPr>
          <p:cNvPr id="11" name="Text 8"/>
          <p:cNvSpPr/>
          <p:nvPr/>
        </p:nvSpPr>
        <p:spPr>
          <a:xfrm>
            <a:off x="5806440" y="3474720"/>
            <a:ext cx="2651760" cy="91440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1E2761"/>
                </a:solidFill>
                <a:latin typeface="Calibri" pitchFamily="34" charset="0"/>
                <a:ea typeface="Calibri" pitchFamily="34" charset="-122"/>
                <a:cs typeface="Calibri" pitchFamily="34" charset="-120"/>
              </a:rPr>
              <a:t>Launch managed-account advisory pilot</a:t>
            </a:r>
            <a:endParaRPr lang="en-US" sz="1050" dirty="0"/>
          </a:p>
          <a:p>
            <a:pPr marL="342900" indent="-342900">
              <a:spcAft>
                <a:spcPts val="600"/>
              </a:spcAft>
              <a:buSzPct val="100000"/>
              <a:buChar char="•"/>
            </a:pPr>
            <a:r>
              <a:rPr lang="en-US" sz="1050" dirty="0">
                <a:solidFill>
                  <a:srgbClr val="1E2761"/>
                </a:solidFill>
                <a:latin typeface="Calibri" pitchFamily="34" charset="0"/>
                <a:ea typeface="Calibri" pitchFamily="34" charset="-122"/>
                <a:cs typeface="Calibri" pitchFamily="34" charset="-120"/>
              </a:rPr>
              <a:t>Complete Spanish-language education sessions</a:t>
            </a:r>
            <a:endParaRPr lang="en-US" sz="1050" dirty="0"/>
          </a:p>
        </p:txBody>
      </p:sp>
      <p:sp>
        <p:nvSpPr>
          <p:cNvPr id="12" name="Shape 9"/>
          <p:cNvSpPr/>
          <p:nvPr/>
        </p:nvSpPr>
        <p:spPr>
          <a:xfrm>
            <a:off x="0" y="5070348"/>
            <a:ext cx="9144000" cy="73152"/>
          </a:xfrm>
          <a:prstGeom prst="rect">
            <a:avLst/>
          </a:prstGeom>
          <a:solidFill>
            <a:srgbClr val="1E2761"/>
          </a:solidFill>
          <a:ln/>
        </p:spPr>
      </p:sp>
      <p:sp>
        <p:nvSpPr>
          <p:cNvPr id="13" name="Text 10"/>
          <p:cNvSpPr/>
          <p:nvPr/>
        </p:nvSpPr>
        <p:spPr>
          <a:xfrm>
            <a:off x="502920" y="4809744"/>
            <a:ext cx="5486400" cy="228600"/>
          </a:xfrm>
          <a:prstGeom prst="rect">
            <a:avLst/>
          </a:prstGeom>
          <a:noFill/>
          <a:ln/>
        </p:spPr>
        <p:txBody>
          <a:bodyPr wrap="square" lIns="0" tIns="0" rIns="0" bIns="0" rtlCol="0" anchor="ctr"/>
          <a:lstStyle/>
          <a:p>
            <a:pPr indent="0" marL="0">
              <a:buNone/>
            </a:pPr>
            <a:r>
              <a:rPr lang="en-US" sz="850" dirty="0">
                <a:solidFill>
                  <a:srgbClr val="5E6B94"/>
                </a:solidFill>
                <a:latin typeface="Calibri" pitchFamily="34" charset="0"/>
                <a:ea typeface="Calibri" pitchFamily="34" charset="-122"/>
                <a:cs typeface="Calibri" pitchFamily="34" charset="-120"/>
              </a:rPr>
              <a:t>Executive Handoff Summary  ·  Meridian Manufacturing 401(k)</a:t>
            </a:r>
            <a:endParaRPr lang="en-US" sz="850" dirty="0"/>
          </a:p>
        </p:txBody>
      </p:sp>
      <p:sp>
        <p:nvSpPr>
          <p:cNvPr id="14" name="Text 11"/>
          <p:cNvSpPr/>
          <p:nvPr/>
        </p:nvSpPr>
        <p:spPr>
          <a:xfrm>
            <a:off x="8321040" y="4809744"/>
            <a:ext cx="320040" cy="228600"/>
          </a:xfrm>
          <a:prstGeom prst="rect">
            <a:avLst/>
          </a:prstGeom>
          <a:noFill/>
          <a:ln/>
        </p:spPr>
        <p:txBody>
          <a:bodyPr wrap="square" lIns="0" tIns="0" rIns="0" bIns="0" rtlCol="0" anchor="ctr"/>
          <a:lstStyle/>
          <a:p>
            <a:pPr algn="r" indent="0" marL="0">
              <a:buNone/>
            </a:pPr>
            <a:r>
              <a:rPr lang="en-US" sz="850" b="1" dirty="0">
                <a:solidFill>
                  <a:srgbClr val="5E6B94"/>
                </a:solidFill>
                <a:latin typeface="Calibri" pitchFamily="34" charset="0"/>
                <a:ea typeface="Calibri" pitchFamily="34" charset="-122"/>
                <a:cs typeface="Calibri" pitchFamily="34" charset="-120"/>
              </a:rPr>
              <a:t>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56032"/>
          </a:xfrm>
          <a:prstGeom prst="rect">
            <a:avLst/>
          </a:prstGeom>
          <a:noFill/>
          <a:ln/>
        </p:spPr>
        <p:txBody>
          <a:bodyPr wrap="square" lIns="0" tIns="0" rIns="0" bIns="0" rtlCol="0" anchor="ctr"/>
          <a:lstStyle/>
          <a:p>
            <a:pPr indent="0" marL="0">
              <a:buNone/>
            </a:pPr>
            <a:r>
              <a:rPr lang="en-US" sz="1100" b="1" spc="300" kern="0" dirty="0">
                <a:solidFill>
                  <a:srgbClr val="9FBEE8"/>
                </a:solidFill>
                <a:latin typeface="Calibri" pitchFamily="34" charset="0"/>
                <a:ea typeface="Calibri" pitchFamily="34" charset="-122"/>
                <a:cs typeface="Calibri" pitchFamily="34" charset="-120"/>
              </a:rPr>
              <a:t>MILESTONES</a:t>
            </a:r>
            <a:endParaRPr lang="en-US" sz="1100" dirty="0"/>
          </a:p>
        </p:txBody>
      </p:sp>
      <p:sp>
        <p:nvSpPr>
          <p:cNvPr id="3" name="Text 1"/>
          <p:cNvSpPr/>
          <p:nvPr/>
        </p:nvSpPr>
        <p:spPr>
          <a:xfrm>
            <a:off x="502920" y="548640"/>
            <a:ext cx="8229600" cy="566928"/>
          </a:xfrm>
          <a:prstGeom prst="rect">
            <a:avLst/>
          </a:prstGeom>
          <a:noFill/>
          <a:ln/>
        </p:spPr>
        <p:txBody>
          <a:bodyPr wrap="square" lIns="0" tIns="0" rIns="0" bIns="0" rtlCol="0" anchor="t"/>
          <a:lstStyle/>
          <a:p>
            <a:pPr indent="0" marL="0">
              <a:buNone/>
            </a:pPr>
            <a:r>
              <a:rPr lang="en-US" sz="3000" b="1" dirty="0">
                <a:solidFill>
                  <a:srgbClr val="1E2761"/>
                </a:solidFill>
                <a:latin typeface="Georgia" pitchFamily="34" charset="0"/>
                <a:ea typeface="Georgia" pitchFamily="34" charset="-122"/>
                <a:cs typeface="Georgia" pitchFamily="34" charset="-120"/>
              </a:rPr>
              <a:t>Five gates from signature to steady state</a:t>
            </a:r>
            <a:endParaRPr lang="en-US" sz="3000" dirty="0"/>
          </a:p>
        </p:txBody>
      </p:sp>
      <p:sp>
        <p:nvSpPr>
          <p:cNvPr id="4" name="Shape 2"/>
          <p:cNvSpPr/>
          <p:nvPr/>
        </p:nvSpPr>
        <p:spPr>
          <a:xfrm>
            <a:off x="1051560" y="2926080"/>
            <a:ext cx="7040880" cy="0"/>
          </a:xfrm>
          <a:prstGeom prst="line">
            <a:avLst/>
          </a:prstGeom>
          <a:noFill/>
          <a:ln w="31750">
            <a:solidFill>
              <a:srgbClr val="CADCFC"/>
            </a:solidFill>
            <a:prstDash val="solid"/>
          </a:ln>
        </p:spPr>
      </p:sp>
      <p:sp>
        <p:nvSpPr>
          <p:cNvPr id="5" name="Shape 3"/>
          <p:cNvSpPr/>
          <p:nvPr/>
        </p:nvSpPr>
        <p:spPr>
          <a:xfrm>
            <a:off x="896112" y="2770632"/>
            <a:ext cx="310896" cy="310896"/>
          </a:xfrm>
          <a:prstGeom prst="ellipse">
            <a:avLst/>
          </a:prstGeom>
          <a:solidFill>
            <a:srgbClr val="1E2761"/>
          </a:solidFill>
          <a:ln w="28575">
            <a:solidFill>
              <a:srgbClr val="1E2761"/>
            </a:solidFill>
            <a:prstDash val="solid"/>
          </a:ln>
        </p:spPr>
      </p:sp>
      <p:sp>
        <p:nvSpPr>
          <p:cNvPr id="6" name="Text 4"/>
          <p:cNvSpPr/>
          <p:nvPr/>
        </p:nvSpPr>
        <p:spPr>
          <a:xfrm>
            <a:off x="182880" y="1956816"/>
            <a:ext cx="1737360" cy="530352"/>
          </a:xfrm>
          <a:prstGeom prst="rect">
            <a:avLst/>
          </a:prstGeom>
          <a:noFill/>
          <a:ln/>
        </p:spPr>
        <p:txBody>
          <a:bodyPr wrap="square" lIns="0" tIns="0" rIns="0" bIns="0" rtlCol="0" anchor="b"/>
          <a:lstStyle/>
          <a:p>
            <a:pPr algn="ctr" indent="0" marL="0">
              <a:buNone/>
            </a:pPr>
            <a:r>
              <a:rPr lang="en-US" sz="1150" b="1" dirty="0">
                <a:solidFill>
                  <a:srgbClr val="1E2761"/>
                </a:solidFill>
                <a:latin typeface="Calibri" pitchFamily="34" charset="0"/>
                <a:ea typeface="Calibri" pitchFamily="34" charset="-122"/>
                <a:cs typeface="Calibri" pitchFamily="34" charset="-120"/>
              </a:rPr>
              <a:t>Contract signed</a:t>
            </a:r>
            <a:endParaRPr lang="en-US" sz="1150" dirty="0"/>
          </a:p>
        </p:txBody>
      </p:sp>
      <p:sp>
        <p:nvSpPr>
          <p:cNvPr id="7" name="Text 5"/>
          <p:cNvSpPr/>
          <p:nvPr/>
        </p:nvSpPr>
        <p:spPr>
          <a:xfrm>
            <a:off x="182880" y="1682496"/>
            <a:ext cx="1737360" cy="256032"/>
          </a:xfrm>
          <a:prstGeom prst="rect">
            <a:avLst/>
          </a:prstGeom>
          <a:noFill/>
          <a:ln/>
        </p:spPr>
        <p:txBody>
          <a:bodyPr wrap="square" lIns="0" tIns="0" rIns="0" bIns="0" rtlCol="0" anchor="ctr"/>
          <a:lstStyle/>
          <a:p>
            <a:pPr algn="ctr" indent="0" marL="0">
              <a:buNone/>
            </a:pPr>
            <a:r>
              <a:rPr lang="en-US" sz="950" i="1" dirty="0">
                <a:solidFill>
                  <a:srgbClr val="5E6B94"/>
                </a:solidFill>
                <a:latin typeface="Calibri" pitchFamily="34" charset="0"/>
                <a:ea typeface="Calibri" pitchFamily="34" charset="-122"/>
                <a:cs typeface="Calibri" pitchFamily="34" charset="-120"/>
              </a:rPr>
              <a:t>May 2025</a:t>
            </a:r>
            <a:endParaRPr lang="en-US" sz="950" dirty="0"/>
          </a:p>
        </p:txBody>
      </p:sp>
      <p:sp>
        <p:nvSpPr>
          <p:cNvPr id="8" name="Shape 6"/>
          <p:cNvSpPr/>
          <p:nvPr/>
        </p:nvSpPr>
        <p:spPr>
          <a:xfrm>
            <a:off x="2656332" y="2770632"/>
            <a:ext cx="310896" cy="310896"/>
          </a:xfrm>
          <a:prstGeom prst="ellipse">
            <a:avLst/>
          </a:prstGeom>
          <a:solidFill>
            <a:srgbClr val="1E2761"/>
          </a:solidFill>
          <a:ln w="28575">
            <a:solidFill>
              <a:srgbClr val="1E2761"/>
            </a:solidFill>
            <a:prstDash val="solid"/>
          </a:ln>
        </p:spPr>
      </p:sp>
      <p:sp>
        <p:nvSpPr>
          <p:cNvPr id="9" name="Text 7"/>
          <p:cNvSpPr/>
          <p:nvPr/>
        </p:nvSpPr>
        <p:spPr>
          <a:xfrm>
            <a:off x="1943100" y="3145536"/>
            <a:ext cx="1737360" cy="530352"/>
          </a:xfrm>
          <a:prstGeom prst="rect">
            <a:avLst/>
          </a:prstGeom>
          <a:noFill/>
          <a:ln/>
        </p:spPr>
        <p:txBody>
          <a:bodyPr wrap="square" lIns="0" tIns="0" rIns="0" bIns="0" rtlCol="0" anchor="t"/>
          <a:lstStyle/>
          <a:p>
            <a:pPr algn="ctr" indent="0" marL="0">
              <a:buNone/>
            </a:pPr>
            <a:r>
              <a:rPr lang="en-US" sz="1150" b="1" dirty="0">
                <a:solidFill>
                  <a:srgbClr val="1E2761"/>
                </a:solidFill>
                <a:latin typeface="Calibri" pitchFamily="34" charset="0"/>
                <a:ea typeface="Calibri" pitchFamily="34" charset="-122"/>
                <a:cs typeface="Calibri" pitchFamily="34" charset="-120"/>
              </a:rPr>
              <a:t>Data conversion</a:t>
            </a:r>
            <a:endParaRPr lang="en-US" sz="1150" dirty="0"/>
          </a:p>
        </p:txBody>
      </p:sp>
      <p:sp>
        <p:nvSpPr>
          <p:cNvPr id="10" name="Text 8"/>
          <p:cNvSpPr/>
          <p:nvPr/>
        </p:nvSpPr>
        <p:spPr>
          <a:xfrm>
            <a:off x="1943100" y="3694176"/>
            <a:ext cx="1737360" cy="256032"/>
          </a:xfrm>
          <a:prstGeom prst="rect">
            <a:avLst/>
          </a:prstGeom>
          <a:noFill/>
          <a:ln/>
        </p:spPr>
        <p:txBody>
          <a:bodyPr wrap="square" lIns="0" tIns="0" rIns="0" bIns="0" rtlCol="0" anchor="ctr"/>
          <a:lstStyle/>
          <a:p>
            <a:pPr algn="ctr" indent="0" marL="0">
              <a:buNone/>
            </a:pPr>
            <a:r>
              <a:rPr lang="en-US" sz="950" i="1" dirty="0">
                <a:solidFill>
                  <a:srgbClr val="5E6B94"/>
                </a:solidFill>
                <a:latin typeface="Calibri" pitchFamily="34" charset="0"/>
                <a:ea typeface="Calibri" pitchFamily="34" charset="-122"/>
                <a:cs typeface="Calibri" pitchFamily="34" charset="-120"/>
              </a:rPr>
              <a:t>Feb 2026</a:t>
            </a:r>
            <a:endParaRPr lang="en-US" sz="950" dirty="0"/>
          </a:p>
        </p:txBody>
      </p:sp>
      <p:sp>
        <p:nvSpPr>
          <p:cNvPr id="11" name="Shape 9"/>
          <p:cNvSpPr/>
          <p:nvPr/>
        </p:nvSpPr>
        <p:spPr>
          <a:xfrm>
            <a:off x="4416552" y="2770632"/>
            <a:ext cx="310896" cy="310896"/>
          </a:xfrm>
          <a:prstGeom prst="ellipse">
            <a:avLst/>
          </a:prstGeom>
          <a:solidFill>
            <a:srgbClr val="1E2761"/>
          </a:solidFill>
          <a:ln w="28575">
            <a:solidFill>
              <a:srgbClr val="1E2761"/>
            </a:solidFill>
            <a:prstDash val="solid"/>
          </a:ln>
        </p:spPr>
      </p:sp>
      <p:sp>
        <p:nvSpPr>
          <p:cNvPr id="12" name="Text 10"/>
          <p:cNvSpPr/>
          <p:nvPr/>
        </p:nvSpPr>
        <p:spPr>
          <a:xfrm>
            <a:off x="3703320" y="1956816"/>
            <a:ext cx="1737360" cy="530352"/>
          </a:xfrm>
          <a:prstGeom prst="rect">
            <a:avLst/>
          </a:prstGeom>
          <a:noFill/>
          <a:ln/>
        </p:spPr>
        <p:txBody>
          <a:bodyPr wrap="square" lIns="0" tIns="0" rIns="0" bIns="0" rtlCol="0" anchor="b"/>
          <a:lstStyle/>
          <a:p>
            <a:pPr algn="ctr" indent="0" marL="0">
              <a:buNone/>
            </a:pPr>
            <a:r>
              <a:rPr lang="en-US" sz="1150" b="1" dirty="0">
                <a:solidFill>
                  <a:srgbClr val="1E2761"/>
                </a:solidFill>
                <a:latin typeface="Calibri" pitchFamily="34" charset="0"/>
                <a:ea typeface="Calibri" pitchFamily="34" charset="-122"/>
                <a:cs typeface="Calibri" pitchFamily="34" charset="-120"/>
              </a:rPr>
              <a:t>Go-live</a:t>
            </a:r>
            <a:endParaRPr lang="en-US" sz="1150" dirty="0"/>
          </a:p>
        </p:txBody>
      </p:sp>
      <p:sp>
        <p:nvSpPr>
          <p:cNvPr id="13" name="Text 11"/>
          <p:cNvSpPr/>
          <p:nvPr/>
        </p:nvSpPr>
        <p:spPr>
          <a:xfrm>
            <a:off x="3703320" y="1682496"/>
            <a:ext cx="1737360" cy="256032"/>
          </a:xfrm>
          <a:prstGeom prst="rect">
            <a:avLst/>
          </a:prstGeom>
          <a:noFill/>
          <a:ln/>
        </p:spPr>
        <p:txBody>
          <a:bodyPr wrap="square" lIns="0" tIns="0" rIns="0" bIns="0" rtlCol="0" anchor="ctr"/>
          <a:lstStyle/>
          <a:p>
            <a:pPr algn="ctr" indent="0" marL="0">
              <a:buNone/>
            </a:pPr>
            <a:r>
              <a:rPr lang="en-US" sz="950" i="1" dirty="0">
                <a:solidFill>
                  <a:srgbClr val="5E6B94"/>
                </a:solidFill>
                <a:latin typeface="Calibri" pitchFamily="34" charset="0"/>
                <a:ea typeface="Calibri" pitchFamily="34" charset="-122"/>
                <a:cs typeface="Calibri" pitchFamily="34" charset="-120"/>
              </a:rPr>
              <a:t>Mar 2026</a:t>
            </a:r>
            <a:endParaRPr lang="en-US" sz="950" dirty="0"/>
          </a:p>
        </p:txBody>
      </p:sp>
      <p:sp>
        <p:nvSpPr>
          <p:cNvPr id="14" name="Shape 12"/>
          <p:cNvSpPr/>
          <p:nvPr/>
        </p:nvSpPr>
        <p:spPr>
          <a:xfrm>
            <a:off x="6176772" y="2770632"/>
            <a:ext cx="310896" cy="310896"/>
          </a:xfrm>
          <a:prstGeom prst="ellipse">
            <a:avLst/>
          </a:prstGeom>
          <a:solidFill>
            <a:srgbClr val="1E2761"/>
          </a:solidFill>
          <a:ln w="28575">
            <a:solidFill>
              <a:srgbClr val="1E2761"/>
            </a:solidFill>
            <a:prstDash val="solid"/>
          </a:ln>
        </p:spPr>
      </p:sp>
      <p:sp>
        <p:nvSpPr>
          <p:cNvPr id="15" name="Text 13"/>
          <p:cNvSpPr/>
          <p:nvPr/>
        </p:nvSpPr>
        <p:spPr>
          <a:xfrm>
            <a:off x="5463540" y="3145536"/>
            <a:ext cx="1737360" cy="530352"/>
          </a:xfrm>
          <a:prstGeom prst="rect">
            <a:avLst/>
          </a:prstGeom>
          <a:noFill/>
          <a:ln/>
        </p:spPr>
        <p:txBody>
          <a:bodyPr wrap="square" lIns="0" tIns="0" rIns="0" bIns="0" rtlCol="0" anchor="t"/>
          <a:lstStyle/>
          <a:p>
            <a:pPr algn="ctr" indent="0" marL="0">
              <a:buNone/>
            </a:pPr>
            <a:r>
              <a:rPr lang="en-US" sz="1150" b="1" dirty="0">
                <a:solidFill>
                  <a:srgbClr val="1E2761"/>
                </a:solidFill>
                <a:latin typeface="Calibri" pitchFamily="34" charset="0"/>
                <a:ea typeface="Calibri" pitchFamily="34" charset="-122"/>
                <a:cs typeface="Calibri" pitchFamily="34" charset="-120"/>
              </a:rPr>
              <a:t>First quarter close</a:t>
            </a:r>
            <a:endParaRPr lang="en-US" sz="1150" dirty="0"/>
          </a:p>
        </p:txBody>
      </p:sp>
      <p:sp>
        <p:nvSpPr>
          <p:cNvPr id="16" name="Text 14"/>
          <p:cNvSpPr/>
          <p:nvPr/>
        </p:nvSpPr>
        <p:spPr>
          <a:xfrm>
            <a:off x="5463540" y="3694176"/>
            <a:ext cx="1737360" cy="256032"/>
          </a:xfrm>
          <a:prstGeom prst="rect">
            <a:avLst/>
          </a:prstGeom>
          <a:noFill/>
          <a:ln/>
        </p:spPr>
        <p:txBody>
          <a:bodyPr wrap="square" lIns="0" tIns="0" rIns="0" bIns="0" rtlCol="0" anchor="ctr"/>
          <a:lstStyle/>
          <a:p>
            <a:pPr algn="ctr" indent="0" marL="0">
              <a:buNone/>
            </a:pPr>
            <a:r>
              <a:rPr lang="en-US" sz="950" i="1" dirty="0">
                <a:solidFill>
                  <a:srgbClr val="5E6B94"/>
                </a:solidFill>
                <a:latin typeface="Calibri" pitchFamily="34" charset="0"/>
                <a:ea typeface="Calibri" pitchFamily="34" charset="-122"/>
                <a:cs typeface="Calibri" pitchFamily="34" charset="-120"/>
              </a:rPr>
              <a:t>Jun 2026</a:t>
            </a:r>
            <a:endParaRPr lang="en-US" sz="950" dirty="0"/>
          </a:p>
        </p:txBody>
      </p:sp>
      <p:sp>
        <p:nvSpPr>
          <p:cNvPr id="17" name="Shape 15"/>
          <p:cNvSpPr/>
          <p:nvPr/>
        </p:nvSpPr>
        <p:spPr>
          <a:xfrm>
            <a:off x="7973568" y="2807208"/>
            <a:ext cx="237744" cy="237744"/>
          </a:xfrm>
          <a:prstGeom prst="ellipse">
            <a:avLst/>
          </a:prstGeom>
          <a:solidFill>
            <a:srgbClr val="FFFFFF"/>
          </a:solidFill>
          <a:ln w="28575">
            <a:solidFill>
              <a:srgbClr val="9FBEE8"/>
            </a:solidFill>
            <a:prstDash val="solid"/>
          </a:ln>
        </p:spPr>
      </p:sp>
      <p:sp>
        <p:nvSpPr>
          <p:cNvPr id="18" name="Text 16"/>
          <p:cNvSpPr/>
          <p:nvPr/>
        </p:nvSpPr>
        <p:spPr>
          <a:xfrm>
            <a:off x="7223760" y="1956816"/>
            <a:ext cx="1737360" cy="530352"/>
          </a:xfrm>
          <a:prstGeom prst="rect">
            <a:avLst/>
          </a:prstGeom>
          <a:noFill/>
          <a:ln/>
        </p:spPr>
        <p:txBody>
          <a:bodyPr wrap="square" lIns="0" tIns="0" rIns="0" bIns="0" rtlCol="0" anchor="b"/>
          <a:lstStyle/>
          <a:p>
            <a:pPr algn="ctr" indent="0" marL="0">
              <a:buNone/>
            </a:pPr>
            <a:r>
              <a:rPr lang="en-US" sz="1150" b="1" dirty="0">
                <a:solidFill>
                  <a:srgbClr val="1E2761"/>
                </a:solidFill>
                <a:latin typeface="Calibri" pitchFamily="34" charset="0"/>
                <a:ea typeface="Calibri" pitchFamily="34" charset="-122"/>
                <a:cs typeface="Calibri" pitchFamily="34" charset="-120"/>
              </a:rPr>
              <a:t>Steady-state handoff</a:t>
            </a:r>
            <a:endParaRPr lang="en-US" sz="1150" dirty="0"/>
          </a:p>
        </p:txBody>
      </p:sp>
      <p:sp>
        <p:nvSpPr>
          <p:cNvPr id="19" name="Text 17"/>
          <p:cNvSpPr/>
          <p:nvPr/>
        </p:nvSpPr>
        <p:spPr>
          <a:xfrm>
            <a:off x="7223760" y="1682496"/>
            <a:ext cx="1737360" cy="256032"/>
          </a:xfrm>
          <a:prstGeom prst="rect">
            <a:avLst/>
          </a:prstGeom>
          <a:noFill/>
          <a:ln/>
        </p:spPr>
        <p:txBody>
          <a:bodyPr wrap="square" lIns="0" tIns="0" rIns="0" bIns="0" rtlCol="0" anchor="ctr"/>
          <a:lstStyle/>
          <a:p>
            <a:pPr algn="ctr" indent="0" marL="0">
              <a:buNone/>
            </a:pPr>
            <a:r>
              <a:rPr lang="en-US" sz="950" i="1" dirty="0">
                <a:solidFill>
                  <a:srgbClr val="5E6B94"/>
                </a:solidFill>
                <a:latin typeface="Calibri" pitchFamily="34" charset="0"/>
                <a:ea typeface="Calibri" pitchFamily="34" charset="-122"/>
                <a:cs typeface="Calibri" pitchFamily="34" charset="-120"/>
              </a:rPr>
              <a:t>Sep 2026</a:t>
            </a:r>
            <a:endParaRPr lang="en-US" sz="950" dirty="0"/>
          </a:p>
        </p:txBody>
      </p:sp>
      <p:sp>
        <p:nvSpPr>
          <p:cNvPr id="20" name="Text 18"/>
          <p:cNvSpPr/>
          <p:nvPr/>
        </p:nvSpPr>
        <p:spPr>
          <a:xfrm>
            <a:off x="1371600" y="4315968"/>
            <a:ext cx="6400800" cy="457200"/>
          </a:xfrm>
          <a:prstGeom prst="rect">
            <a:avLst/>
          </a:prstGeom>
          <a:noFill/>
          <a:ln/>
        </p:spPr>
        <p:txBody>
          <a:bodyPr wrap="square" lIns="0" tIns="0" rIns="0" bIns="0" rtlCol="0" anchor="ctr"/>
          <a:lstStyle/>
          <a:p>
            <a:pPr algn="ctr" indent="0" marL="0">
              <a:buNone/>
            </a:pPr>
            <a:r>
              <a:rPr lang="en-US" sz="1150" i="1" dirty="0">
                <a:solidFill>
                  <a:srgbClr val="5E6B94"/>
                </a:solidFill>
                <a:latin typeface="Calibri" pitchFamily="34" charset="0"/>
                <a:ea typeface="Calibri" pitchFamily="34" charset="-122"/>
                <a:cs typeface="Calibri" pitchFamily="34" charset="-120"/>
              </a:rPr>
              <a:t>4 of 5 gates complete — the September handoff closes the implementation and moves Meridian to the ongoing service calendar.</a:t>
            </a:r>
            <a:endParaRPr lang="en-US" sz="1150" dirty="0"/>
          </a:p>
        </p:txBody>
      </p:sp>
      <p:sp>
        <p:nvSpPr>
          <p:cNvPr id="21" name="Shape 19"/>
          <p:cNvSpPr/>
          <p:nvPr/>
        </p:nvSpPr>
        <p:spPr>
          <a:xfrm>
            <a:off x="0" y="5070348"/>
            <a:ext cx="9144000" cy="73152"/>
          </a:xfrm>
          <a:prstGeom prst="rect">
            <a:avLst/>
          </a:prstGeom>
          <a:solidFill>
            <a:srgbClr val="1E2761"/>
          </a:solidFill>
          <a:ln/>
        </p:spPr>
      </p:sp>
      <p:sp>
        <p:nvSpPr>
          <p:cNvPr id="22" name="Text 20"/>
          <p:cNvSpPr/>
          <p:nvPr/>
        </p:nvSpPr>
        <p:spPr>
          <a:xfrm>
            <a:off x="502920" y="4809744"/>
            <a:ext cx="5486400" cy="228600"/>
          </a:xfrm>
          <a:prstGeom prst="rect">
            <a:avLst/>
          </a:prstGeom>
          <a:noFill/>
          <a:ln/>
        </p:spPr>
        <p:txBody>
          <a:bodyPr wrap="square" lIns="0" tIns="0" rIns="0" bIns="0" rtlCol="0" anchor="ctr"/>
          <a:lstStyle/>
          <a:p>
            <a:pPr indent="0" marL="0">
              <a:buNone/>
            </a:pPr>
            <a:r>
              <a:rPr lang="en-US" sz="850" dirty="0">
                <a:solidFill>
                  <a:srgbClr val="5E6B94"/>
                </a:solidFill>
                <a:latin typeface="Calibri" pitchFamily="34" charset="0"/>
                <a:ea typeface="Calibri" pitchFamily="34" charset="-122"/>
                <a:cs typeface="Calibri" pitchFamily="34" charset="-120"/>
              </a:rPr>
              <a:t>Executive Handoff Summary  ·  Meridian Manufacturing 401(k)</a:t>
            </a:r>
            <a:endParaRPr lang="en-US" sz="850" dirty="0"/>
          </a:p>
        </p:txBody>
      </p:sp>
      <p:sp>
        <p:nvSpPr>
          <p:cNvPr id="23" name="Text 21"/>
          <p:cNvSpPr/>
          <p:nvPr/>
        </p:nvSpPr>
        <p:spPr>
          <a:xfrm>
            <a:off x="8321040" y="4809744"/>
            <a:ext cx="320040" cy="228600"/>
          </a:xfrm>
          <a:prstGeom prst="rect">
            <a:avLst/>
          </a:prstGeom>
          <a:noFill/>
          <a:ln/>
        </p:spPr>
        <p:txBody>
          <a:bodyPr wrap="square" lIns="0" tIns="0" rIns="0" bIns="0" rtlCol="0" anchor="ctr"/>
          <a:lstStyle/>
          <a:p>
            <a:pPr algn="r" indent="0" marL="0">
              <a:buNone/>
            </a:pPr>
            <a:r>
              <a:rPr lang="en-US" sz="850" b="1" dirty="0">
                <a:solidFill>
                  <a:srgbClr val="5E6B94"/>
                </a:solidFill>
                <a:latin typeface="Calibri" pitchFamily="34" charset="0"/>
                <a:ea typeface="Calibri" pitchFamily="34" charset="-122"/>
                <a:cs typeface="Calibri" pitchFamily="34" charset="-120"/>
              </a:rPr>
              <a:t>06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56032"/>
          </a:xfrm>
          <a:prstGeom prst="rect">
            <a:avLst/>
          </a:prstGeom>
          <a:noFill/>
          <a:ln/>
        </p:spPr>
        <p:txBody>
          <a:bodyPr wrap="square" lIns="0" tIns="0" rIns="0" bIns="0" rtlCol="0" anchor="ctr"/>
          <a:lstStyle/>
          <a:p>
            <a:pPr indent="0" marL="0">
              <a:buNone/>
            </a:pPr>
            <a:r>
              <a:rPr lang="en-US" sz="1100" b="1" spc="300" kern="0" dirty="0">
                <a:solidFill>
                  <a:srgbClr val="9FBEE8"/>
                </a:solidFill>
                <a:latin typeface="Calibri" pitchFamily="34" charset="0"/>
                <a:ea typeface="Calibri" pitchFamily="34" charset="-122"/>
                <a:cs typeface="Calibri" pitchFamily="34" charset="-120"/>
              </a:rPr>
              <a:t>WORK STREAM STATUS</a:t>
            </a:r>
            <a:endParaRPr lang="en-US" sz="1100" dirty="0"/>
          </a:p>
        </p:txBody>
      </p:sp>
      <p:sp>
        <p:nvSpPr>
          <p:cNvPr id="3" name="Text 1"/>
          <p:cNvSpPr/>
          <p:nvPr/>
        </p:nvSpPr>
        <p:spPr>
          <a:xfrm>
            <a:off x="502920" y="548640"/>
            <a:ext cx="8229600" cy="566928"/>
          </a:xfrm>
          <a:prstGeom prst="rect">
            <a:avLst/>
          </a:prstGeom>
          <a:noFill/>
          <a:ln/>
        </p:spPr>
        <p:txBody>
          <a:bodyPr wrap="square" lIns="0" tIns="0" rIns="0" bIns="0" rtlCol="0" anchor="t"/>
          <a:lstStyle/>
          <a:p>
            <a:pPr indent="0" marL="0">
              <a:buNone/>
            </a:pPr>
            <a:r>
              <a:rPr lang="en-US" sz="3000" b="1" dirty="0">
                <a:solidFill>
                  <a:srgbClr val="1E2761"/>
                </a:solidFill>
                <a:latin typeface="Georgia" pitchFamily="34" charset="0"/>
                <a:ea typeface="Georgia" pitchFamily="34" charset="-122"/>
                <a:cs typeface="Georgia" pitchFamily="34" charset="-120"/>
              </a:rPr>
              <a:t>Five streams, one watch item</a:t>
            </a:r>
            <a:endParaRPr lang="en-US" sz="3000" dirty="0"/>
          </a:p>
        </p:txBody>
      </p:sp>
      <p:sp>
        <p:nvSpPr>
          <p:cNvPr id="4" name="Shape 2"/>
          <p:cNvSpPr/>
          <p:nvPr/>
        </p:nvSpPr>
        <p:spPr>
          <a:xfrm>
            <a:off x="502920" y="1481328"/>
            <a:ext cx="8138160" cy="365760"/>
          </a:xfrm>
          <a:prstGeom prst="rect">
            <a:avLst/>
          </a:prstGeom>
          <a:solidFill>
            <a:srgbClr val="1E2761"/>
          </a:solidFill>
          <a:ln/>
        </p:spPr>
      </p:sp>
      <p:sp>
        <p:nvSpPr>
          <p:cNvPr id="5" name="Text 3"/>
          <p:cNvSpPr/>
          <p:nvPr/>
        </p:nvSpPr>
        <p:spPr>
          <a:xfrm>
            <a:off x="685800" y="1481328"/>
            <a:ext cx="2377440" cy="365760"/>
          </a:xfrm>
          <a:prstGeom prst="rect">
            <a:avLst/>
          </a:prstGeom>
          <a:noFill/>
          <a:ln/>
        </p:spPr>
        <p:txBody>
          <a:bodyPr wrap="square" lIns="0" tIns="0" rIns="0" bIns="0" rtlCol="0" anchor="ctr"/>
          <a:lstStyle/>
          <a:p>
            <a:pPr indent="0" marL="0">
              <a:buNone/>
            </a:pPr>
            <a:r>
              <a:rPr lang="en-US" sz="950" b="1" spc="200" kern="0" dirty="0">
                <a:solidFill>
                  <a:srgbClr val="CADCFC"/>
                </a:solidFill>
                <a:latin typeface="Calibri" pitchFamily="34" charset="0"/>
                <a:ea typeface="Calibri" pitchFamily="34" charset="-122"/>
                <a:cs typeface="Calibri" pitchFamily="34" charset="-120"/>
              </a:rPr>
              <a:t>WORK STREAM</a:t>
            </a:r>
            <a:endParaRPr lang="en-US" sz="950" dirty="0"/>
          </a:p>
        </p:txBody>
      </p:sp>
      <p:sp>
        <p:nvSpPr>
          <p:cNvPr id="6" name="Text 4"/>
          <p:cNvSpPr/>
          <p:nvPr/>
        </p:nvSpPr>
        <p:spPr>
          <a:xfrm>
            <a:off x="3154680" y="1481328"/>
            <a:ext cx="1097280" cy="365760"/>
          </a:xfrm>
          <a:prstGeom prst="rect">
            <a:avLst/>
          </a:prstGeom>
          <a:noFill/>
          <a:ln/>
        </p:spPr>
        <p:txBody>
          <a:bodyPr wrap="square" lIns="0" tIns="0" rIns="0" bIns="0" rtlCol="0" anchor="ctr"/>
          <a:lstStyle/>
          <a:p>
            <a:pPr indent="0" marL="0">
              <a:buNone/>
            </a:pPr>
            <a:r>
              <a:rPr lang="en-US" sz="950" b="1" spc="200" kern="0" dirty="0">
                <a:solidFill>
                  <a:srgbClr val="CADCFC"/>
                </a:solidFill>
                <a:latin typeface="Calibri" pitchFamily="34" charset="0"/>
                <a:ea typeface="Calibri" pitchFamily="34" charset="-122"/>
                <a:cs typeface="Calibri" pitchFamily="34" charset="-120"/>
              </a:rPr>
              <a:t>OWNER</a:t>
            </a:r>
            <a:endParaRPr lang="en-US" sz="950" dirty="0"/>
          </a:p>
        </p:txBody>
      </p:sp>
      <p:sp>
        <p:nvSpPr>
          <p:cNvPr id="7" name="Text 5"/>
          <p:cNvSpPr/>
          <p:nvPr/>
        </p:nvSpPr>
        <p:spPr>
          <a:xfrm>
            <a:off x="4343400" y="1481328"/>
            <a:ext cx="1188720" cy="365760"/>
          </a:xfrm>
          <a:prstGeom prst="rect">
            <a:avLst/>
          </a:prstGeom>
          <a:noFill/>
          <a:ln/>
        </p:spPr>
        <p:txBody>
          <a:bodyPr wrap="square" lIns="0" tIns="0" rIns="0" bIns="0" rtlCol="0" anchor="ctr"/>
          <a:lstStyle/>
          <a:p>
            <a:pPr indent="0" marL="0">
              <a:buNone/>
            </a:pPr>
            <a:r>
              <a:rPr lang="en-US" sz="950" b="1" spc="200" kern="0" dirty="0">
                <a:solidFill>
                  <a:srgbClr val="CADCFC"/>
                </a:solidFill>
                <a:latin typeface="Calibri" pitchFamily="34" charset="0"/>
                <a:ea typeface="Calibri" pitchFamily="34" charset="-122"/>
                <a:cs typeface="Calibri" pitchFamily="34" charset="-120"/>
              </a:rPr>
              <a:t>STATUS</a:t>
            </a:r>
            <a:endParaRPr lang="en-US" sz="950" dirty="0"/>
          </a:p>
        </p:txBody>
      </p:sp>
      <p:sp>
        <p:nvSpPr>
          <p:cNvPr id="8" name="Text 6"/>
          <p:cNvSpPr/>
          <p:nvPr/>
        </p:nvSpPr>
        <p:spPr>
          <a:xfrm>
            <a:off x="5623560" y="1481328"/>
            <a:ext cx="2834640" cy="365760"/>
          </a:xfrm>
          <a:prstGeom prst="rect">
            <a:avLst/>
          </a:prstGeom>
          <a:noFill/>
          <a:ln/>
        </p:spPr>
        <p:txBody>
          <a:bodyPr wrap="square" lIns="0" tIns="0" rIns="0" bIns="0" rtlCol="0" anchor="ctr"/>
          <a:lstStyle/>
          <a:p>
            <a:pPr indent="0" marL="0">
              <a:buNone/>
            </a:pPr>
            <a:r>
              <a:rPr lang="en-US" sz="950" b="1" spc="200" kern="0" dirty="0">
                <a:solidFill>
                  <a:srgbClr val="CADCFC"/>
                </a:solidFill>
                <a:latin typeface="Calibri" pitchFamily="34" charset="0"/>
                <a:ea typeface="Calibri" pitchFamily="34" charset="-122"/>
                <a:cs typeface="Calibri" pitchFamily="34" charset="-120"/>
              </a:rPr>
              <a:t>NOTE</a:t>
            </a:r>
            <a:endParaRPr lang="en-US" sz="950" dirty="0"/>
          </a:p>
        </p:txBody>
      </p:sp>
      <p:sp>
        <p:nvSpPr>
          <p:cNvPr id="9" name="Shape 7"/>
          <p:cNvSpPr/>
          <p:nvPr/>
        </p:nvSpPr>
        <p:spPr>
          <a:xfrm>
            <a:off x="502920" y="1847088"/>
            <a:ext cx="8138160" cy="603504"/>
          </a:xfrm>
          <a:prstGeom prst="rect">
            <a:avLst/>
          </a:prstGeom>
          <a:solidFill>
            <a:srgbClr val="F6F8FD"/>
          </a:solidFill>
          <a:ln/>
        </p:spPr>
      </p:sp>
      <p:sp>
        <p:nvSpPr>
          <p:cNvPr id="10" name="Text 8"/>
          <p:cNvSpPr/>
          <p:nvPr/>
        </p:nvSpPr>
        <p:spPr>
          <a:xfrm>
            <a:off x="685800" y="1847088"/>
            <a:ext cx="2377440" cy="603504"/>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Recordkeeping &amp; conversion</a:t>
            </a:r>
            <a:endParaRPr lang="en-US" sz="1150" dirty="0"/>
          </a:p>
        </p:txBody>
      </p:sp>
      <p:sp>
        <p:nvSpPr>
          <p:cNvPr id="11" name="Text 9"/>
          <p:cNvSpPr/>
          <p:nvPr/>
        </p:nvSpPr>
        <p:spPr>
          <a:xfrm>
            <a:off x="3154680" y="1847088"/>
            <a:ext cx="1097280" cy="603504"/>
          </a:xfrm>
          <a:prstGeom prst="rect">
            <a:avLst/>
          </a:prstGeom>
          <a:noFill/>
          <a:ln/>
        </p:spPr>
        <p:txBody>
          <a:bodyPr wrap="square" lIns="0" tIns="0" rIns="0" bIns="0" rtlCol="0" anchor="ctr"/>
          <a:lstStyle/>
          <a:p>
            <a:pPr indent="0" marL="0">
              <a:buNone/>
            </a:pPr>
            <a:r>
              <a:rPr lang="en-US" sz="1100" dirty="0">
                <a:solidFill>
                  <a:srgbClr val="5E6B94"/>
                </a:solidFill>
                <a:latin typeface="Calibri" pitchFamily="34" charset="0"/>
                <a:ea typeface="Calibri" pitchFamily="34" charset="-122"/>
                <a:cs typeface="Calibri" pitchFamily="34" charset="-120"/>
              </a:rPr>
              <a:t>D. Alvarez</a:t>
            </a:r>
            <a:endParaRPr lang="en-US" sz="1100" dirty="0"/>
          </a:p>
        </p:txBody>
      </p:sp>
      <p:sp>
        <p:nvSpPr>
          <p:cNvPr id="12" name="Shape 10"/>
          <p:cNvSpPr/>
          <p:nvPr/>
        </p:nvSpPr>
        <p:spPr>
          <a:xfrm>
            <a:off x="4343400" y="2011680"/>
            <a:ext cx="1060704" cy="274320"/>
          </a:xfrm>
          <a:prstGeom prst="roundRect">
            <a:avLst>
              <a:gd name="adj" fmla="val 50000"/>
            </a:avLst>
          </a:prstGeom>
          <a:solidFill>
            <a:srgbClr val="2E9E6B"/>
          </a:solidFill>
          <a:ln/>
        </p:spPr>
      </p:sp>
      <p:sp>
        <p:nvSpPr>
          <p:cNvPr id="13" name="Text 11"/>
          <p:cNvSpPr/>
          <p:nvPr/>
        </p:nvSpPr>
        <p:spPr>
          <a:xfrm>
            <a:off x="4343400" y="1993392"/>
            <a:ext cx="1060704" cy="274320"/>
          </a:xfrm>
          <a:prstGeom prst="rect">
            <a:avLst/>
          </a:prstGeom>
          <a:noFill/>
          <a:ln/>
        </p:spPr>
        <p:txBody>
          <a:bodyPr wrap="square" lIns="0" tIns="0" rIns="0" bIns="0" rtlCol="0" anchor="ctr"/>
          <a:lstStyle/>
          <a:p>
            <a:pPr algn="ctr" indent="0" marL="0">
              <a:buNone/>
            </a:pPr>
            <a:r>
              <a:rPr lang="en-US" sz="900" b="1" spc="150" kern="0" dirty="0">
                <a:solidFill>
                  <a:srgbClr val="FFFFFF"/>
                </a:solidFill>
              </a:rPr>
              <a:t>COMPLETE</a:t>
            </a:r>
            <a:endParaRPr lang="en-US" sz="900" dirty="0"/>
          </a:p>
        </p:txBody>
      </p:sp>
      <p:sp>
        <p:nvSpPr>
          <p:cNvPr id="14" name="Text 12"/>
          <p:cNvSpPr/>
          <p:nvPr/>
        </p:nvSpPr>
        <p:spPr>
          <a:xfrm>
            <a:off x="5623560" y="1847088"/>
            <a:ext cx="2926080" cy="603504"/>
          </a:xfrm>
          <a:prstGeom prst="rect">
            <a:avLst/>
          </a:prstGeom>
          <a:noFill/>
          <a:ln/>
        </p:spPr>
        <p:txBody>
          <a:bodyPr wrap="square" lIns="0" tIns="0" rIns="0" bIns="0" rtlCol="0" anchor="ctr"/>
          <a:lstStyle/>
          <a:p>
            <a:pPr indent="0" marL="0">
              <a:buNone/>
            </a:pPr>
            <a:r>
              <a:rPr lang="en-US" sz="1000" dirty="0">
                <a:solidFill>
                  <a:srgbClr val="5E6B94"/>
                </a:solidFill>
                <a:latin typeface="Calibri" pitchFamily="34" charset="0"/>
                <a:ea typeface="Calibri" pitchFamily="34" charset="-122"/>
                <a:cs typeface="Calibri" pitchFamily="34" charset="-120"/>
              </a:rPr>
              <a:t>Zero reconciliation variance at close</a:t>
            </a:r>
            <a:endParaRPr lang="en-US" sz="1000" dirty="0"/>
          </a:p>
        </p:txBody>
      </p:sp>
      <p:sp>
        <p:nvSpPr>
          <p:cNvPr id="15" name="Text 13"/>
          <p:cNvSpPr/>
          <p:nvPr/>
        </p:nvSpPr>
        <p:spPr>
          <a:xfrm>
            <a:off x="685800" y="2450592"/>
            <a:ext cx="2377440" cy="603504"/>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Payroll &amp; data integration</a:t>
            </a:r>
            <a:endParaRPr lang="en-US" sz="1150" dirty="0"/>
          </a:p>
        </p:txBody>
      </p:sp>
      <p:sp>
        <p:nvSpPr>
          <p:cNvPr id="16" name="Text 14"/>
          <p:cNvSpPr/>
          <p:nvPr/>
        </p:nvSpPr>
        <p:spPr>
          <a:xfrm>
            <a:off x="3154680" y="2450592"/>
            <a:ext cx="1097280" cy="603504"/>
          </a:xfrm>
          <a:prstGeom prst="rect">
            <a:avLst/>
          </a:prstGeom>
          <a:noFill/>
          <a:ln/>
        </p:spPr>
        <p:txBody>
          <a:bodyPr wrap="square" lIns="0" tIns="0" rIns="0" bIns="0" rtlCol="0" anchor="ctr"/>
          <a:lstStyle/>
          <a:p>
            <a:pPr indent="0" marL="0">
              <a:buNone/>
            </a:pPr>
            <a:r>
              <a:rPr lang="en-US" sz="1100" dirty="0">
                <a:solidFill>
                  <a:srgbClr val="5E6B94"/>
                </a:solidFill>
                <a:latin typeface="Calibri" pitchFamily="34" charset="0"/>
                <a:ea typeface="Calibri" pitchFamily="34" charset="-122"/>
                <a:cs typeface="Calibri" pitchFamily="34" charset="-120"/>
              </a:rPr>
              <a:t>S. Kim</a:t>
            </a:r>
            <a:endParaRPr lang="en-US" sz="1100" dirty="0"/>
          </a:p>
        </p:txBody>
      </p:sp>
      <p:sp>
        <p:nvSpPr>
          <p:cNvPr id="17" name="Shape 15"/>
          <p:cNvSpPr/>
          <p:nvPr/>
        </p:nvSpPr>
        <p:spPr>
          <a:xfrm>
            <a:off x="4343400" y="2615184"/>
            <a:ext cx="1060704" cy="274320"/>
          </a:xfrm>
          <a:prstGeom prst="roundRect">
            <a:avLst>
              <a:gd name="adj" fmla="val 50000"/>
            </a:avLst>
          </a:prstGeom>
          <a:solidFill>
            <a:srgbClr val="2E9E6B"/>
          </a:solidFill>
          <a:ln/>
        </p:spPr>
      </p:sp>
      <p:sp>
        <p:nvSpPr>
          <p:cNvPr id="18" name="Text 16"/>
          <p:cNvSpPr/>
          <p:nvPr/>
        </p:nvSpPr>
        <p:spPr>
          <a:xfrm>
            <a:off x="4343400" y="2596896"/>
            <a:ext cx="1060704" cy="274320"/>
          </a:xfrm>
          <a:prstGeom prst="rect">
            <a:avLst/>
          </a:prstGeom>
          <a:noFill/>
          <a:ln/>
        </p:spPr>
        <p:txBody>
          <a:bodyPr wrap="square" lIns="0" tIns="0" rIns="0" bIns="0" rtlCol="0" anchor="ctr"/>
          <a:lstStyle/>
          <a:p>
            <a:pPr algn="ctr" indent="0" marL="0">
              <a:buNone/>
            </a:pPr>
            <a:r>
              <a:rPr lang="en-US" sz="900" b="1" spc="150" kern="0" dirty="0">
                <a:solidFill>
                  <a:srgbClr val="FFFFFF"/>
                </a:solidFill>
              </a:rPr>
              <a:t>COMPLETE</a:t>
            </a:r>
            <a:endParaRPr lang="en-US" sz="900" dirty="0"/>
          </a:p>
        </p:txBody>
      </p:sp>
      <p:sp>
        <p:nvSpPr>
          <p:cNvPr id="19" name="Text 17"/>
          <p:cNvSpPr/>
          <p:nvPr/>
        </p:nvSpPr>
        <p:spPr>
          <a:xfrm>
            <a:off x="5623560" y="2450592"/>
            <a:ext cx="2926080" cy="603504"/>
          </a:xfrm>
          <a:prstGeom prst="rect">
            <a:avLst/>
          </a:prstGeom>
          <a:noFill/>
          <a:ln/>
        </p:spPr>
        <p:txBody>
          <a:bodyPr wrap="square" lIns="0" tIns="0" rIns="0" bIns="0" rtlCol="0" anchor="ctr"/>
          <a:lstStyle/>
          <a:p>
            <a:pPr indent="0" marL="0">
              <a:buNone/>
            </a:pPr>
            <a:r>
              <a:rPr lang="en-US" sz="1000" dirty="0">
                <a:solidFill>
                  <a:srgbClr val="5E6B94"/>
                </a:solidFill>
                <a:latin typeface="Calibri" pitchFamily="34" charset="0"/>
                <a:ea typeface="Calibri" pitchFamily="34" charset="-122"/>
                <a:cs typeface="Calibri" pitchFamily="34" charset="-120"/>
              </a:rPr>
              <a:t>360° feed live with ADP since April</a:t>
            </a:r>
            <a:endParaRPr lang="en-US" sz="1000" dirty="0"/>
          </a:p>
        </p:txBody>
      </p:sp>
      <p:sp>
        <p:nvSpPr>
          <p:cNvPr id="20" name="Shape 18"/>
          <p:cNvSpPr/>
          <p:nvPr/>
        </p:nvSpPr>
        <p:spPr>
          <a:xfrm>
            <a:off x="502920" y="3054096"/>
            <a:ext cx="8138160" cy="603504"/>
          </a:xfrm>
          <a:prstGeom prst="rect">
            <a:avLst/>
          </a:prstGeom>
          <a:solidFill>
            <a:srgbClr val="F6F8FD"/>
          </a:solidFill>
          <a:ln/>
        </p:spPr>
      </p:sp>
      <p:sp>
        <p:nvSpPr>
          <p:cNvPr id="21" name="Text 19"/>
          <p:cNvSpPr/>
          <p:nvPr/>
        </p:nvSpPr>
        <p:spPr>
          <a:xfrm>
            <a:off x="685800" y="3054096"/>
            <a:ext cx="2377440" cy="603504"/>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Compliance &amp; testing</a:t>
            </a:r>
            <a:endParaRPr lang="en-US" sz="1150" dirty="0"/>
          </a:p>
        </p:txBody>
      </p:sp>
      <p:sp>
        <p:nvSpPr>
          <p:cNvPr id="22" name="Text 20"/>
          <p:cNvSpPr/>
          <p:nvPr/>
        </p:nvSpPr>
        <p:spPr>
          <a:xfrm>
            <a:off x="3154680" y="3054096"/>
            <a:ext cx="1097280" cy="603504"/>
          </a:xfrm>
          <a:prstGeom prst="rect">
            <a:avLst/>
          </a:prstGeom>
          <a:noFill/>
          <a:ln/>
        </p:spPr>
        <p:txBody>
          <a:bodyPr wrap="square" lIns="0" tIns="0" rIns="0" bIns="0" rtlCol="0" anchor="ctr"/>
          <a:lstStyle/>
          <a:p>
            <a:pPr indent="0" marL="0">
              <a:buNone/>
            </a:pPr>
            <a:r>
              <a:rPr lang="en-US" sz="1100" dirty="0">
                <a:solidFill>
                  <a:srgbClr val="5E6B94"/>
                </a:solidFill>
                <a:latin typeface="Calibri" pitchFamily="34" charset="0"/>
                <a:ea typeface="Calibri" pitchFamily="34" charset="-122"/>
                <a:cs typeface="Calibri" pitchFamily="34" charset="-120"/>
              </a:rPr>
              <a:t>R. Osei</a:t>
            </a:r>
            <a:endParaRPr lang="en-US" sz="1100" dirty="0"/>
          </a:p>
        </p:txBody>
      </p:sp>
      <p:sp>
        <p:nvSpPr>
          <p:cNvPr id="23" name="Shape 21"/>
          <p:cNvSpPr/>
          <p:nvPr/>
        </p:nvSpPr>
        <p:spPr>
          <a:xfrm>
            <a:off x="4343400" y="3218688"/>
            <a:ext cx="1060704" cy="274320"/>
          </a:xfrm>
          <a:prstGeom prst="roundRect">
            <a:avLst>
              <a:gd name="adj" fmla="val 50000"/>
            </a:avLst>
          </a:prstGeom>
          <a:solidFill>
            <a:srgbClr val="1E2761"/>
          </a:solidFill>
          <a:ln/>
        </p:spPr>
      </p:sp>
      <p:sp>
        <p:nvSpPr>
          <p:cNvPr id="24" name="Text 22"/>
          <p:cNvSpPr/>
          <p:nvPr/>
        </p:nvSpPr>
        <p:spPr>
          <a:xfrm>
            <a:off x="4343400" y="3200400"/>
            <a:ext cx="1060704" cy="274320"/>
          </a:xfrm>
          <a:prstGeom prst="rect">
            <a:avLst/>
          </a:prstGeom>
          <a:noFill/>
          <a:ln/>
        </p:spPr>
        <p:txBody>
          <a:bodyPr wrap="square" lIns="0" tIns="0" rIns="0" bIns="0" rtlCol="0" anchor="ctr"/>
          <a:lstStyle/>
          <a:p>
            <a:pPr algn="ctr" indent="0" marL="0">
              <a:buNone/>
            </a:pPr>
            <a:r>
              <a:rPr lang="en-US" sz="900" b="1" spc="150" kern="0" dirty="0">
                <a:solidFill>
                  <a:srgbClr val="FFFFFF"/>
                </a:solidFill>
              </a:rPr>
              <a:t>ON TRACK</a:t>
            </a:r>
            <a:endParaRPr lang="en-US" sz="900" dirty="0"/>
          </a:p>
        </p:txBody>
      </p:sp>
      <p:sp>
        <p:nvSpPr>
          <p:cNvPr id="25" name="Text 23"/>
          <p:cNvSpPr/>
          <p:nvPr/>
        </p:nvSpPr>
        <p:spPr>
          <a:xfrm>
            <a:off x="5623560" y="3054096"/>
            <a:ext cx="2926080" cy="603504"/>
          </a:xfrm>
          <a:prstGeom prst="rect">
            <a:avLst/>
          </a:prstGeom>
          <a:noFill/>
          <a:ln/>
        </p:spPr>
        <p:txBody>
          <a:bodyPr wrap="square" lIns="0" tIns="0" rIns="0" bIns="0" rtlCol="0" anchor="ctr"/>
          <a:lstStyle/>
          <a:p>
            <a:pPr indent="0" marL="0">
              <a:buNone/>
            </a:pPr>
            <a:r>
              <a:rPr lang="en-US" sz="1000" dirty="0">
                <a:solidFill>
                  <a:srgbClr val="5E6B94"/>
                </a:solidFill>
                <a:latin typeface="Calibri" pitchFamily="34" charset="0"/>
                <a:ea typeface="Calibri" pitchFamily="34" charset="-122"/>
                <a:cs typeface="Calibri" pitchFamily="34" charset="-120"/>
              </a:rPr>
              <a:t>ADP/ACP testing passes on preliminary data</a:t>
            </a:r>
            <a:endParaRPr lang="en-US" sz="1000" dirty="0"/>
          </a:p>
        </p:txBody>
      </p:sp>
      <p:sp>
        <p:nvSpPr>
          <p:cNvPr id="26" name="Text 24"/>
          <p:cNvSpPr/>
          <p:nvPr/>
        </p:nvSpPr>
        <p:spPr>
          <a:xfrm>
            <a:off x="685800" y="3657600"/>
            <a:ext cx="2377440" cy="603504"/>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Participant communications</a:t>
            </a:r>
            <a:endParaRPr lang="en-US" sz="1150" dirty="0"/>
          </a:p>
        </p:txBody>
      </p:sp>
      <p:sp>
        <p:nvSpPr>
          <p:cNvPr id="27" name="Text 25"/>
          <p:cNvSpPr/>
          <p:nvPr/>
        </p:nvSpPr>
        <p:spPr>
          <a:xfrm>
            <a:off x="3154680" y="3657600"/>
            <a:ext cx="1097280" cy="603504"/>
          </a:xfrm>
          <a:prstGeom prst="rect">
            <a:avLst/>
          </a:prstGeom>
          <a:noFill/>
          <a:ln/>
        </p:spPr>
        <p:txBody>
          <a:bodyPr wrap="square" lIns="0" tIns="0" rIns="0" bIns="0" rtlCol="0" anchor="ctr"/>
          <a:lstStyle/>
          <a:p>
            <a:pPr indent="0" marL="0">
              <a:buNone/>
            </a:pPr>
            <a:r>
              <a:rPr lang="en-US" sz="1100" dirty="0">
                <a:solidFill>
                  <a:srgbClr val="5E6B94"/>
                </a:solidFill>
                <a:latin typeface="Calibri" pitchFamily="34" charset="0"/>
                <a:ea typeface="Calibri" pitchFamily="34" charset="-122"/>
                <a:cs typeface="Calibri" pitchFamily="34" charset="-120"/>
              </a:rPr>
              <a:t>J. Whitfield</a:t>
            </a:r>
            <a:endParaRPr lang="en-US" sz="1100" dirty="0"/>
          </a:p>
        </p:txBody>
      </p:sp>
      <p:sp>
        <p:nvSpPr>
          <p:cNvPr id="28" name="Shape 26"/>
          <p:cNvSpPr/>
          <p:nvPr/>
        </p:nvSpPr>
        <p:spPr>
          <a:xfrm>
            <a:off x="4343400" y="3822192"/>
            <a:ext cx="1060704" cy="274320"/>
          </a:xfrm>
          <a:prstGeom prst="roundRect">
            <a:avLst>
              <a:gd name="adj" fmla="val 50000"/>
            </a:avLst>
          </a:prstGeom>
          <a:solidFill>
            <a:srgbClr val="1E2761"/>
          </a:solidFill>
          <a:ln/>
        </p:spPr>
      </p:sp>
      <p:sp>
        <p:nvSpPr>
          <p:cNvPr id="29" name="Text 27"/>
          <p:cNvSpPr/>
          <p:nvPr/>
        </p:nvSpPr>
        <p:spPr>
          <a:xfrm>
            <a:off x="4343400" y="3803904"/>
            <a:ext cx="1060704" cy="274320"/>
          </a:xfrm>
          <a:prstGeom prst="rect">
            <a:avLst/>
          </a:prstGeom>
          <a:noFill/>
          <a:ln/>
        </p:spPr>
        <p:txBody>
          <a:bodyPr wrap="square" lIns="0" tIns="0" rIns="0" bIns="0" rtlCol="0" anchor="ctr"/>
          <a:lstStyle/>
          <a:p>
            <a:pPr algn="ctr" indent="0" marL="0">
              <a:buNone/>
            </a:pPr>
            <a:r>
              <a:rPr lang="en-US" sz="900" b="1" spc="150" kern="0" dirty="0">
                <a:solidFill>
                  <a:srgbClr val="FFFFFF"/>
                </a:solidFill>
              </a:rPr>
              <a:t>ON TRACK</a:t>
            </a:r>
            <a:endParaRPr lang="en-US" sz="900" dirty="0"/>
          </a:p>
        </p:txBody>
      </p:sp>
      <p:sp>
        <p:nvSpPr>
          <p:cNvPr id="30" name="Text 28"/>
          <p:cNvSpPr/>
          <p:nvPr/>
        </p:nvSpPr>
        <p:spPr>
          <a:xfrm>
            <a:off x="5623560" y="3657600"/>
            <a:ext cx="2926080" cy="603504"/>
          </a:xfrm>
          <a:prstGeom prst="rect">
            <a:avLst/>
          </a:prstGeom>
          <a:noFill/>
          <a:ln/>
        </p:spPr>
        <p:txBody>
          <a:bodyPr wrap="square" lIns="0" tIns="0" rIns="0" bIns="0" rtlCol="0" anchor="ctr"/>
          <a:lstStyle/>
          <a:p>
            <a:pPr indent="0" marL="0">
              <a:buNone/>
            </a:pPr>
            <a:r>
              <a:rPr lang="en-US" sz="1000" dirty="0">
                <a:solidFill>
                  <a:srgbClr val="5E6B94"/>
                </a:solidFill>
                <a:latin typeface="Calibri" pitchFamily="34" charset="0"/>
                <a:ea typeface="Calibri" pitchFamily="34" charset="-122"/>
                <a:cs typeface="Calibri" pitchFamily="34" charset="-120"/>
              </a:rPr>
              <a:t>Two of three education waves delivered</a:t>
            </a:r>
            <a:endParaRPr lang="en-US" sz="1000" dirty="0"/>
          </a:p>
        </p:txBody>
      </p:sp>
      <p:sp>
        <p:nvSpPr>
          <p:cNvPr id="31" name="Shape 29"/>
          <p:cNvSpPr/>
          <p:nvPr/>
        </p:nvSpPr>
        <p:spPr>
          <a:xfrm>
            <a:off x="502920" y="4261104"/>
            <a:ext cx="8138160" cy="603504"/>
          </a:xfrm>
          <a:prstGeom prst="rect">
            <a:avLst/>
          </a:prstGeom>
          <a:solidFill>
            <a:srgbClr val="F6F8FD"/>
          </a:solidFill>
          <a:ln/>
        </p:spPr>
      </p:sp>
      <p:sp>
        <p:nvSpPr>
          <p:cNvPr id="32" name="Text 30"/>
          <p:cNvSpPr/>
          <p:nvPr/>
        </p:nvSpPr>
        <p:spPr>
          <a:xfrm>
            <a:off x="685800" y="4261104"/>
            <a:ext cx="2377440" cy="603504"/>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Advisory &amp; managed accounts</a:t>
            </a:r>
            <a:endParaRPr lang="en-US" sz="1150" dirty="0"/>
          </a:p>
        </p:txBody>
      </p:sp>
      <p:sp>
        <p:nvSpPr>
          <p:cNvPr id="33" name="Text 31"/>
          <p:cNvSpPr/>
          <p:nvPr/>
        </p:nvSpPr>
        <p:spPr>
          <a:xfrm>
            <a:off x="3154680" y="4261104"/>
            <a:ext cx="1097280" cy="603504"/>
          </a:xfrm>
          <a:prstGeom prst="rect">
            <a:avLst/>
          </a:prstGeom>
          <a:noFill/>
          <a:ln/>
        </p:spPr>
        <p:txBody>
          <a:bodyPr wrap="square" lIns="0" tIns="0" rIns="0" bIns="0" rtlCol="0" anchor="ctr"/>
          <a:lstStyle/>
          <a:p>
            <a:pPr indent="0" marL="0">
              <a:buNone/>
            </a:pPr>
            <a:r>
              <a:rPr lang="en-US" sz="1100" dirty="0">
                <a:solidFill>
                  <a:srgbClr val="5E6B94"/>
                </a:solidFill>
                <a:latin typeface="Calibri" pitchFamily="34" charset="0"/>
                <a:ea typeface="Calibri" pitchFamily="34" charset="-122"/>
                <a:cs typeface="Calibri" pitchFamily="34" charset="-120"/>
              </a:rPr>
              <a:t>M. Torres</a:t>
            </a:r>
            <a:endParaRPr lang="en-US" sz="1100" dirty="0"/>
          </a:p>
        </p:txBody>
      </p:sp>
      <p:sp>
        <p:nvSpPr>
          <p:cNvPr id="34" name="Shape 32"/>
          <p:cNvSpPr/>
          <p:nvPr/>
        </p:nvSpPr>
        <p:spPr>
          <a:xfrm>
            <a:off x="4343400" y="4425696"/>
            <a:ext cx="1060704" cy="274320"/>
          </a:xfrm>
          <a:prstGeom prst="roundRect">
            <a:avLst>
              <a:gd name="adj" fmla="val 50000"/>
            </a:avLst>
          </a:prstGeom>
          <a:solidFill>
            <a:srgbClr val="D98E04"/>
          </a:solidFill>
          <a:ln/>
        </p:spPr>
      </p:sp>
      <p:sp>
        <p:nvSpPr>
          <p:cNvPr id="35" name="Text 33"/>
          <p:cNvSpPr/>
          <p:nvPr/>
        </p:nvSpPr>
        <p:spPr>
          <a:xfrm>
            <a:off x="4343400" y="4407408"/>
            <a:ext cx="1060704" cy="274320"/>
          </a:xfrm>
          <a:prstGeom prst="rect">
            <a:avLst/>
          </a:prstGeom>
          <a:noFill/>
          <a:ln/>
        </p:spPr>
        <p:txBody>
          <a:bodyPr wrap="square" lIns="0" tIns="0" rIns="0" bIns="0" rtlCol="0" anchor="ctr"/>
          <a:lstStyle/>
          <a:p>
            <a:pPr algn="ctr" indent="0" marL="0">
              <a:buNone/>
            </a:pPr>
            <a:r>
              <a:rPr lang="en-US" sz="900" b="1" spc="150" kern="0" dirty="0">
                <a:solidFill>
                  <a:srgbClr val="FFFFFF"/>
                </a:solidFill>
              </a:rPr>
              <a:t>AT RISK</a:t>
            </a:r>
            <a:endParaRPr lang="en-US" sz="900" dirty="0"/>
          </a:p>
        </p:txBody>
      </p:sp>
      <p:sp>
        <p:nvSpPr>
          <p:cNvPr id="36" name="Text 34"/>
          <p:cNvSpPr/>
          <p:nvPr/>
        </p:nvSpPr>
        <p:spPr>
          <a:xfrm>
            <a:off x="5623560" y="4261104"/>
            <a:ext cx="2926080" cy="603504"/>
          </a:xfrm>
          <a:prstGeom prst="rect">
            <a:avLst/>
          </a:prstGeom>
          <a:noFill/>
          <a:ln/>
        </p:spPr>
        <p:txBody>
          <a:bodyPr wrap="square" lIns="0" tIns="0" rIns="0" bIns="0" rtlCol="0" anchor="ctr"/>
          <a:lstStyle/>
          <a:p>
            <a:pPr indent="0" marL="0">
              <a:buNone/>
            </a:pPr>
            <a:r>
              <a:rPr lang="en-US" sz="1000" dirty="0">
                <a:solidFill>
                  <a:srgbClr val="5E6B94"/>
                </a:solidFill>
                <a:latin typeface="Calibri" pitchFamily="34" charset="0"/>
                <a:ea typeface="Calibri" pitchFamily="34" charset="-122"/>
                <a:cs typeface="Calibri" pitchFamily="34" charset="-120"/>
              </a:rPr>
              <a:t>Pilot start slipped 3 weeks — vendor contract</a:t>
            </a:r>
            <a:endParaRPr lang="en-US" sz="1000" dirty="0"/>
          </a:p>
        </p:txBody>
      </p:sp>
      <p:sp>
        <p:nvSpPr>
          <p:cNvPr id="37" name="Shape 35"/>
          <p:cNvSpPr/>
          <p:nvPr/>
        </p:nvSpPr>
        <p:spPr>
          <a:xfrm>
            <a:off x="0" y="5070348"/>
            <a:ext cx="9144000" cy="73152"/>
          </a:xfrm>
          <a:prstGeom prst="rect">
            <a:avLst/>
          </a:prstGeom>
          <a:solidFill>
            <a:srgbClr val="1E2761"/>
          </a:solidFill>
          <a:ln/>
        </p:spPr>
      </p:sp>
      <p:sp>
        <p:nvSpPr>
          <p:cNvPr id="38" name="Text 36"/>
          <p:cNvSpPr/>
          <p:nvPr/>
        </p:nvSpPr>
        <p:spPr>
          <a:xfrm>
            <a:off x="502920" y="4809744"/>
            <a:ext cx="5486400" cy="228600"/>
          </a:xfrm>
          <a:prstGeom prst="rect">
            <a:avLst/>
          </a:prstGeom>
          <a:noFill/>
          <a:ln/>
        </p:spPr>
        <p:txBody>
          <a:bodyPr wrap="square" lIns="0" tIns="0" rIns="0" bIns="0" rtlCol="0" anchor="ctr"/>
          <a:lstStyle/>
          <a:p>
            <a:pPr indent="0" marL="0">
              <a:buNone/>
            </a:pPr>
            <a:r>
              <a:rPr lang="en-US" sz="850" dirty="0">
                <a:solidFill>
                  <a:srgbClr val="5E6B94"/>
                </a:solidFill>
                <a:latin typeface="Calibri" pitchFamily="34" charset="0"/>
                <a:ea typeface="Calibri" pitchFamily="34" charset="-122"/>
                <a:cs typeface="Calibri" pitchFamily="34" charset="-120"/>
              </a:rPr>
              <a:t>Executive Handoff Summary  ·  Meridian Manufacturing 401(k)</a:t>
            </a:r>
            <a:endParaRPr lang="en-US" sz="850" dirty="0"/>
          </a:p>
        </p:txBody>
      </p:sp>
      <p:sp>
        <p:nvSpPr>
          <p:cNvPr id="39" name="Text 37"/>
          <p:cNvSpPr/>
          <p:nvPr/>
        </p:nvSpPr>
        <p:spPr>
          <a:xfrm>
            <a:off x="8321040" y="4809744"/>
            <a:ext cx="320040" cy="228600"/>
          </a:xfrm>
          <a:prstGeom prst="rect">
            <a:avLst/>
          </a:prstGeom>
          <a:noFill/>
          <a:ln/>
        </p:spPr>
        <p:txBody>
          <a:bodyPr wrap="square" lIns="0" tIns="0" rIns="0" bIns="0" rtlCol="0" anchor="ctr"/>
          <a:lstStyle/>
          <a:p>
            <a:pPr algn="r" indent="0" marL="0">
              <a:buNone/>
            </a:pPr>
            <a:r>
              <a:rPr lang="en-US" sz="850" b="1" dirty="0">
                <a:solidFill>
                  <a:srgbClr val="5E6B94"/>
                </a:solidFill>
                <a:latin typeface="Calibri" pitchFamily="34" charset="0"/>
                <a:ea typeface="Calibri" pitchFamily="34" charset="-122"/>
                <a:cs typeface="Calibri" pitchFamily="34" charset="-120"/>
              </a:rPr>
              <a:t>07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56032"/>
          </a:xfrm>
          <a:prstGeom prst="rect">
            <a:avLst/>
          </a:prstGeom>
          <a:noFill/>
          <a:ln/>
        </p:spPr>
        <p:txBody>
          <a:bodyPr wrap="square" lIns="0" tIns="0" rIns="0" bIns="0" rtlCol="0" anchor="ctr"/>
          <a:lstStyle/>
          <a:p>
            <a:pPr indent="0" marL="0">
              <a:buNone/>
            </a:pPr>
            <a:r>
              <a:rPr lang="en-US" sz="1100" b="1" spc="300" kern="0" dirty="0">
                <a:solidFill>
                  <a:srgbClr val="9FBEE8"/>
                </a:solidFill>
                <a:latin typeface="Calibri" pitchFamily="34" charset="0"/>
                <a:ea typeface="Calibri" pitchFamily="34" charset="-122"/>
                <a:cs typeface="Calibri" pitchFamily="34" charset="-120"/>
              </a:rPr>
              <a:t>RISK OVERVIEW</a:t>
            </a:r>
            <a:endParaRPr lang="en-US" sz="1100" dirty="0"/>
          </a:p>
        </p:txBody>
      </p:sp>
      <p:sp>
        <p:nvSpPr>
          <p:cNvPr id="3" name="Text 1"/>
          <p:cNvSpPr/>
          <p:nvPr/>
        </p:nvSpPr>
        <p:spPr>
          <a:xfrm>
            <a:off x="502920" y="548640"/>
            <a:ext cx="8229600" cy="566928"/>
          </a:xfrm>
          <a:prstGeom prst="rect">
            <a:avLst/>
          </a:prstGeom>
          <a:noFill/>
          <a:ln/>
        </p:spPr>
        <p:txBody>
          <a:bodyPr wrap="square" lIns="0" tIns="0" rIns="0" bIns="0" rtlCol="0" anchor="t"/>
          <a:lstStyle/>
          <a:p>
            <a:pPr indent="0" marL="0">
              <a:buNone/>
            </a:pPr>
            <a:r>
              <a:rPr lang="en-US" sz="3000" b="1" dirty="0">
                <a:solidFill>
                  <a:srgbClr val="1E2761"/>
                </a:solidFill>
                <a:latin typeface="Georgia" pitchFamily="34" charset="0"/>
                <a:ea typeface="Georgia" pitchFamily="34" charset="-122"/>
                <a:cs typeface="Georgia" pitchFamily="34" charset="-120"/>
              </a:rPr>
              <a:t>Three risks worth executive attention</a:t>
            </a:r>
            <a:endParaRPr lang="en-US" sz="3000" dirty="0"/>
          </a:p>
        </p:txBody>
      </p:sp>
      <p:sp>
        <p:nvSpPr>
          <p:cNvPr id="4" name="Shape 2"/>
          <p:cNvSpPr/>
          <p:nvPr/>
        </p:nvSpPr>
        <p:spPr>
          <a:xfrm>
            <a:off x="502920" y="1481328"/>
            <a:ext cx="2615184" cy="3035808"/>
          </a:xfrm>
          <a:prstGeom prst="rect">
            <a:avLst/>
          </a:prstGeom>
          <a:solidFill>
            <a:srgbClr val="F6F8FD"/>
          </a:solidFill>
          <a:ln/>
          <a:effectLst>
            <a:outerShdw sx="100000" sy="100000" kx="0" ky="0" algn="bl" rotWithShape="0" blurRad="88900" dist="25400" dir="5400000">
              <a:srgbClr val="000000">
                <a:alpha val="12000"/>
              </a:srgbClr>
            </a:outerShdw>
          </a:effectLst>
        </p:spPr>
      </p:sp>
      <p:sp>
        <p:nvSpPr>
          <p:cNvPr id="5" name="Shape 3"/>
          <p:cNvSpPr/>
          <p:nvPr/>
        </p:nvSpPr>
        <p:spPr>
          <a:xfrm>
            <a:off x="502920" y="1481328"/>
            <a:ext cx="2615184" cy="64008"/>
          </a:xfrm>
          <a:prstGeom prst="rect">
            <a:avLst/>
          </a:prstGeom>
          <a:solidFill>
            <a:srgbClr val="C0392B"/>
          </a:solidFill>
          <a:ln/>
        </p:spPr>
      </p:sp>
      <p:sp>
        <p:nvSpPr>
          <p:cNvPr id="6" name="Shape 4"/>
          <p:cNvSpPr/>
          <p:nvPr/>
        </p:nvSpPr>
        <p:spPr>
          <a:xfrm>
            <a:off x="722376" y="1719072"/>
            <a:ext cx="512064" cy="512064"/>
          </a:xfrm>
          <a:prstGeom prst="ellipse">
            <a:avLst/>
          </a:prstGeom>
          <a:solidFill>
            <a:srgbClr val="1E2761"/>
          </a:solidFill>
          <a:ln/>
        </p:spPr>
      </p:sp>
      <p:pic>
        <p:nvPicPr>
          <p:cNvPr id="7" name="Image 0" descr="preencoded.png">    </p:cNvPr>
          <p:cNvPicPr>
            <a:picLocks noChangeAspect="1"/>
          </p:cNvPicPr>
          <p:nvPr/>
        </p:nvPicPr>
        <p:blipFill>
          <a:blip r:embed="rId1"/>
          <a:stretch>
            <a:fillRect/>
          </a:stretch>
        </p:blipFill>
        <p:spPr>
          <a:xfrm>
            <a:off x="850392" y="1847088"/>
            <a:ext cx="256032" cy="256032"/>
          </a:xfrm>
          <a:prstGeom prst="rect">
            <a:avLst/>
          </a:prstGeom>
        </p:spPr>
      </p:pic>
      <p:sp>
        <p:nvSpPr>
          <p:cNvPr id="8" name="Shape 5"/>
          <p:cNvSpPr/>
          <p:nvPr/>
        </p:nvSpPr>
        <p:spPr>
          <a:xfrm>
            <a:off x="2194560" y="1828800"/>
            <a:ext cx="749808" cy="274320"/>
          </a:xfrm>
          <a:prstGeom prst="roundRect">
            <a:avLst>
              <a:gd name="adj" fmla="val 50000"/>
            </a:avLst>
          </a:prstGeom>
          <a:solidFill>
            <a:srgbClr val="C0392B"/>
          </a:solidFill>
          <a:ln/>
        </p:spPr>
      </p:sp>
      <p:sp>
        <p:nvSpPr>
          <p:cNvPr id="9" name="Text 6"/>
          <p:cNvSpPr/>
          <p:nvPr/>
        </p:nvSpPr>
        <p:spPr>
          <a:xfrm>
            <a:off x="2194560" y="1810512"/>
            <a:ext cx="749808" cy="274320"/>
          </a:xfrm>
          <a:prstGeom prst="rect">
            <a:avLst/>
          </a:prstGeom>
          <a:noFill/>
          <a:ln/>
        </p:spPr>
        <p:txBody>
          <a:bodyPr wrap="square" lIns="0" tIns="0" rIns="0" bIns="0" rtlCol="0" anchor="ctr"/>
          <a:lstStyle/>
          <a:p>
            <a:pPr algn="ctr" indent="0" marL="0">
              <a:buNone/>
            </a:pPr>
            <a:r>
              <a:rPr lang="en-US" sz="900" b="1" spc="150" kern="0" dirty="0">
                <a:solidFill>
                  <a:srgbClr val="FFFFFF"/>
                </a:solidFill>
              </a:rPr>
              <a:t>HIGH</a:t>
            </a:r>
            <a:endParaRPr lang="en-US" sz="900" dirty="0"/>
          </a:p>
        </p:txBody>
      </p:sp>
      <p:sp>
        <p:nvSpPr>
          <p:cNvPr id="10" name="Text 7"/>
          <p:cNvSpPr/>
          <p:nvPr/>
        </p:nvSpPr>
        <p:spPr>
          <a:xfrm>
            <a:off x="722376" y="2377440"/>
            <a:ext cx="219456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Advisory pilot delay</a:t>
            </a:r>
            <a:endParaRPr lang="en-US" sz="1350" dirty="0"/>
          </a:p>
        </p:txBody>
      </p:sp>
      <p:sp>
        <p:nvSpPr>
          <p:cNvPr id="11" name="Text 8"/>
          <p:cNvSpPr/>
          <p:nvPr/>
        </p:nvSpPr>
        <p:spPr>
          <a:xfrm>
            <a:off x="722376" y="2724912"/>
            <a:ext cx="2194560" cy="1170432"/>
          </a:xfrm>
          <a:prstGeom prst="rect">
            <a:avLst/>
          </a:prstGeom>
          <a:noFill/>
          <a:ln/>
        </p:spPr>
        <p:txBody>
          <a:bodyPr wrap="square" lIns="0" tIns="0" rIns="0" bIns="0" rtlCol="0" anchor="ctr"/>
          <a:lstStyle/>
          <a:p>
            <a:pPr indent="0" marL="0">
              <a:lnSpc>
                <a:spcPts val="1300"/>
              </a:lnSpc>
              <a:buNone/>
            </a:pPr>
            <a:r>
              <a:rPr lang="en-US" sz="980" dirty="0">
                <a:solidFill>
                  <a:srgbClr val="5E6B94"/>
                </a:solidFill>
                <a:latin typeface="Calibri" pitchFamily="34" charset="0"/>
                <a:ea typeface="Calibri" pitchFamily="34" charset="-122"/>
                <a:cs typeface="Calibri" pitchFamily="34" charset="-120"/>
              </a:rPr>
              <a:t>Vendor contract for managed accounts is 3 weeks behind. If unsigned by Aug 15, the pilot moves to Q4 and a client commitment is missed.</a:t>
            </a:r>
            <a:endParaRPr lang="en-US" sz="980" dirty="0"/>
          </a:p>
        </p:txBody>
      </p:sp>
      <p:sp>
        <p:nvSpPr>
          <p:cNvPr id="12" name="Text 9"/>
          <p:cNvSpPr/>
          <p:nvPr/>
        </p:nvSpPr>
        <p:spPr>
          <a:xfrm>
            <a:off x="722376" y="3931920"/>
            <a:ext cx="2194560" cy="502920"/>
          </a:xfrm>
          <a:prstGeom prst="rect">
            <a:avLst/>
          </a:prstGeom>
          <a:noFill/>
          <a:ln/>
        </p:spPr>
        <p:txBody>
          <a:bodyPr wrap="square" lIns="0" tIns="0" rIns="0" bIns="0" rtlCol="0" anchor="ctr"/>
          <a:lstStyle/>
          <a:p>
            <a:pPr indent="0" marL="0">
              <a:lnSpc>
                <a:spcPts val="1200"/>
              </a:lnSpc>
              <a:buNone/>
            </a:pPr>
            <a:r>
              <a:rPr lang="en-US" sz="930" i="1" dirty="0">
                <a:solidFill>
                  <a:srgbClr val="1E2761"/>
                </a:solidFill>
                <a:latin typeface="Calibri" pitchFamily="34" charset="0"/>
                <a:ea typeface="Calibri" pitchFamily="34" charset="-122"/>
                <a:cs typeface="Calibri" pitchFamily="34" charset="-120"/>
              </a:rPr>
              <a:t>Mitigation: escalated to vendor VP; fallback SOW drafted.</a:t>
            </a:r>
            <a:endParaRPr lang="en-US" sz="930" dirty="0"/>
          </a:p>
        </p:txBody>
      </p:sp>
      <p:sp>
        <p:nvSpPr>
          <p:cNvPr id="13" name="Shape 10"/>
          <p:cNvSpPr/>
          <p:nvPr/>
        </p:nvSpPr>
        <p:spPr>
          <a:xfrm>
            <a:off x="3319272" y="1481328"/>
            <a:ext cx="2615184" cy="3035808"/>
          </a:xfrm>
          <a:prstGeom prst="rect">
            <a:avLst/>
          </a:prstGeom>
          <a:solidFill>
            <a:srgbClr val="F6F8FD"/>
          </a:solidFill>
          <a:ln/>
          <a:effectLst>
            <a:outerShdw sx="100000" sy="100000" kx="0" ky="0" algn="bl" rotWithShape="0" blurRad="88900" dist="25400" dir="5400000">
              <a:srgbClr val="000000">
                <a:alpha val="12000"/>
              </a:srgbClr>
            </a:outerShdw>
          </a:effectLst>
        </p:spPr>
      </p:sp>
      <p:sp>
        <p:nvSpPr>
          <p:cNvPr id="14" name="Shape 11"/>
          <p:cNvSpPr/>
          <p:nvPr/>
        </p:nvSpPr>
        <p:spPr>
          <a:xfrm>
            <a:off x="3319272" y="1481328"/>
            <a:ext cx="2615184" cy="64008"/>
          </a:xfrm>
          <a:prstGeom prst="rect">
            <a:avLst/>
          </a:prstGeom>
          <a:solidFill>
            <a:srgbClr val="D98E04"/>
          </a:solidFill>
          <a:ln/>
        </p:spPr>
      </p:sp>
      <p:sp>
        <p:nvSpPr>
          <p:cNvPr id="15" name="Shape 12"/>
          <p:cNvSpPr/>
          <p:nvPr/>
        </p:nvSpPr>
        <p:spPr>
          <a:xfrm>
            <a:off x="3538728" y="1719072"/>
            <a:ext cx="512064" cy="512064"/>
          </a:xfrm>
          <a:prstGeom prst="ellipse">
            <a:avLst/>
          </a:prstGeom>
          <a:solidFill>
            <a:srgbClr val="1E2761"/>
          </a:solidFill>
          <a:ln/>
        </p:spPr>
      </p:sp>
      <p:pic>
        <p:nvPicPr>
          <p:cNvPr id="16" name="Image 1" descr="preencoded.png">    </p:cNvPr>
          <p:cNvPicPr>
            <a:picLocks noChangeAspect="1"/>
          </p:cNvPicPr>
          <p:nvPr/>
        </p:nvPicPr>
        <p:blipFill>
          <a:blip r:embed="rId2"/>
          <a:stretch>
            <a:fillRect/>
          </a:stretch>
        </p:blipFill>
        <p:spPr>
          <a:xfrm>
            <a:off x="3666744" y="1847088"/>
            <a:ext cx="256032" cy="256032"/>
          </a:xfrm>
          <a:prstGeom prst="rect">
            <a:avLst/>
          </a:prstGeom>
        </p:spPr>
      </p:pic>
      <p:sp>
        <p:nvSpPr>
          <p:cNvPr id="17" name="Shape 13"/>
          <p:cNvSpPr/>
          <p:nvPr/>
        </p:nvSpPr>
        <p:spPr>
          <a:xfrm>
            <a:off x="5010912" y="1828800"/>
            <a:ext cx="749808" cy="274320"/>
          </a:xfrm>
          <a:prstGeom prst="roundRect">
            <a:avLst>
              <a:gd name="adj" fmla="val 50000"/>
            </a:avLst>
          </a:prstGeom>
          <a:solidFill>
            <a:srgbClr val="D98E04"/>
          </a:solidFill>
          <a:ln/>
        </p:spPr>
      </p:sp>
      <p:sp>
        <p:nvSpPr>
          <p:cNvPr id="18" name="Text 14"/>
          <p:cNvSpPr/>
          <p:nvPr/>
        </p:nvSpPr>
        <p:spPr>
          <a:xfrm>
            <a:off x="5010912" y="1810512"/>
            <a:ext cx="749808" cy="274320"/>
          </a:xfrm>
          <a:prstGeom prst="rect">
            <a:avLst/>
          </a:prstGeom>
          <a:noFill/>
          <a:ln/>
        </p:spPr>
        <p:txBody>
          <a:bodyPr wrap="square" lIns="0" tIns="0" rIns="0" bIns="0" rtlCol="0" anchor="ctr"/>
          <a:lstStyle/>
          <a:p>
            <a:pPr algn="ctr" indent="0" marL="0">
              <a:buNone/>
            </a:pPr>
            <a:r>
              <a:rPr lang="en-US" sz="900" b="1" spc="150" kern="0" dirty="0">
                <a:solidFill>
                  <a:srgbClr val="FFFFFF"/>
                </a:solidFill>
              </a:rPr>
              <a:t>MEDIUM</a:t>
            </a:r>
            <a:endParaRPr lang="en-US" sz="900" dirty="0"/>
          </a:p>
        </p:txBody>
      </p:sp>
      <p:sp>
        <p:nvSpPr>
          <p:cNvPr id="19" name="Text 15"/>
          <p:cNvSpPr/>
          <p:nvPr/>
        </p:nvSpPr>
        <p:spPr>
          <a:xfrm>
            <a:off x="3538728" y="2377440"/>
            <a:ext cx="219456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HR contact turnover</a:t>
            </a:r>
            <a:endParaRPr lang="en-US" sz="1350" dirty="0"/>
          </a:p>
        </p:txBody>
      </p:sp>
      <p:sp>
        <p:nvSpPr>
          <p:cNvPr id="20" name="Text 16"/>
          <p:cNvSpPr/>
          <p:nvPr/>
        </p:nvSpPr>
        <p:spPr>
          <a:xfrm>
            <a:off x="3538728" y="2724912"/>
            <a:ext cx="2194560" cy="1170432"/>
          </a:xfrm>
          <a:prstGeom prst="rect">
            <a:avLst/>
          </a:prstGeom>
          <a:noFill/>
          <a:ln/>
        </p:spPr>
        <p:txBody>
          <a:bodyPr wrap="square" lIns="0" tIns="0" rIns="0" bIns="0" rtlCol="0" anchor="ctr"/>
          <a:lstStyle/>
          <a:p>
            <a:pPr indent="0" marL="0">
              <a:lnSpc>
                <a:spcPts val="1300"/>
              </a:lnSpc>
              <a:buNone/>
            </a:pPr>
            <a:r>
              <a:rPr lang="en-US" sz="980" dirty="0">
                <a:solidFill>
                  <a:srgbClr val="5E6B94"/>
                </a:solidFill>
                <a:latin typeface="Calibri" pitchFamily="34" charset="0"/>
                <a:ea typeface="Calibri" pitchFamily="34" charset="-122"/>
                <a:cs typeface="Calibri" pitchFamily="34" charset="-120"/>
              </a:rPr>
              <a:t>Meridian's benefits manager — our primary contact — departs in August. Institutional knowledge of payroll quirks leaves with her.</a:t>
            </a:r>
            <a:endParaRPr lang="en-US" sz="980" dirty="0"/>
          </a:p>
        </p:txBody>
      </p:sp>
      <p:sp>
        <p:nvSpPr>
          <p:cNvPr id="21" name="Text 17"/>
          <p:cNvSpPr/>
          <p:nvPr/>
        </p:nvSpPr>
        <p:spPr>
          <a:xfrm>
            <a:off x="3538728" y="3931920"/>
            <a:ext cx="2194560" cy="502920"/>
          </a:xfrm>
          <a:prstGeom prst="rect">
            <a:avLst/>
          </a:prstGeom>
          <a:noFill/>
          <a:ln/>
        </p:spPr>
        <p:txBody>
          <a:bodyPr wrap="square" lIns="0" tIns="0" rIns="0" bIns="0" rtlCol="0" anchor="ctr"/>
          <a:lstStyle/>
          <a:p>
            <a:pPr indent="0" marL="0">
              <a:lnSpc>
                <a:spcPts val="1200"/>
              </a:lnSpc>
              <a:buNone/>
            </a:pPr>
            <a:r>
              <a:rPr lang="en-US" sz="930" i="1" dirty="0">
                <a:solidFill>
                  <a:srgbClr val="1E2761"/>
                </a:solidFill>
                <a:latin typeface="Calibri" pitchFamily="34" charset="0"/>
                <a:ea typeface="Calibri" pitchFamily="34" charset="-122"/>
                <a:cs typeface="Calibri" pitchFamily="34" charset="-120"/>
              </a:rPr>
              <a:t>Mitigation: transition binder delivered; successor shadowing calls.</a:t>
            </a:r>
            <a:endParaRPr lang="en-US" sz="930" dirty="0"/>
          </a:p>
        </p:txBody>
      </p:sp>
      <p:sp>
        <p:nvSpPr>
          <p:cNvPr id="22" name="Shape 18"/>
          <p:cNvSpPr/>
          <p:nvPr/>
        </p:nvSpPr>
        <p:spPr>
          <a:xfrm>
            <a:off x="6135624" y="1481328"/>
            <a:ext cx="2615184" cy="3035808"/>
          </a:xfrm>
          <a:prstGeom prst="rect">
            <a:avLst/>
          </a:prstGeom>
          <a:solidFill>
            <a:srgbClr val="F6F8FD"/>
          </a:solidFill>
          <a:ln/>
          <a:effectLst>
            <a:outerShdw sx="100000" sy="100000" kx="0" ky="0" algn="bl" rotWithShape="0" blurRad="88900" dist="25400" dir="5400000">
              <a:srgbClr val="000000">
                <a:alpha val="12000"/>
              </a:srgbClr>
            </a:outerShdw>
          </a:effectLst>
        </p:spPr>
      </p:sp>
      <p:sp>
        <p:nvSpPr>
          <p:cNvPr id="23" name="Shape 19"/>
          <p:cNvSpPr/>
          <p:nvPr/>
        </p:nvSpPr>
        <p:spPr>
          <a:xfrm>
            <a:off x="6135624" y="1481328"/>
            <a:ext cx="2615184" cy="64008"/>
          </a:xfrm>
          <a:prstGeom prst="rect">
            <a:avLst/>
          </a:prstGeom>
          <a:solidFill>
            <a:srgbClr val="2E9E6B"/>
          </a:solidFill>
          <a:ln/>
        </p:spPr>
      </p:sp>
      <p:sp>
        <p:nvSpPr>
          <p:cNvPr id="24" name="Shape 20"/>
          <p:cNvSpPr/>
          <p:nvPr/>
        </p:nvSpPr>
        <p:spPr>
          <a:xfrm>
            <a:off x="6355080" y="1719072"/>
            <a:ext cx="512064" cy="512064"/>
          </a:xfrm>
          <a:prstGeom prst="ellipse">
            <a:avLst/>
          </a:prstGeom>
          <a:solidFill>
            <a:srgbClr val="1E2761"/>
          </a:solidFill>
          <a:ln/>
        </p:spPr>
      </p:sp>
      <p:pic>
        <p:nvPicPr>
          <p:cNvPr id="25" name="Image 2" descr="preencoded.png">    </p:cNvPr>
          <p:cNvPicPr>
            <a:picLocks noChangeAspect="1"/>
          </p:cNvPicPr>
          <p:nvPr/>
        </p:nvPicPr>
        <p:blipFill>
          <a:blip r:embed="rId3"/>
          <a:stretch>
            <a:fillRect/>
          </a:stretch>
        </p:blipFill>
        <p:spPr>
          <a:xfrm>
            <a:off x="6483096" y="1847088"/>
            <a:ext cx="256032" cy="256032"/>
          </a:xfrm>
          <a:prstGeom prst="rect">
            <a:avLst/>
          </a:prstGeom>
        </p:spPr>
      </p:pic>
      <p:sp>
        <p:nvSpPr>
          <p:cNvPr id="26" name="Shape 21"/>
          <p:cNvSpPr/>
          <p:nvPr/>
        </p:nvSpPr>
        <p:spPr>
          <a:xfrm>
            <a:off x="7827264" y="1828800"/>
            <a:ext cx="749808" cy="274320"/>
          </a:xfrm>
          <a:prstGeom prst="roundRect">
            <a:avLst>
              <a:gd name="adj" fmla="val 50000"/>
            </a:avLst>
          </a:prstGeom>
          <a:solidFill>
            <a:srgbClr val="2E9E6B"/>
          </a:solidFill>
          <a:ln/>
        </p:spPr>
      </p:sp>
      <p:sp>
        <p:nvSpPr>
          <p:cNvPr id="27" name="Text 22"/>
          <p:cNvSpPr/>
          <p:nvPr/>
        </p:nvSpPr>
        <p:spPr>
          <a:xfrm>
            <a:off x="7827264" y="1810512"/>
            <a:ext cx="749808" cy="274320"/>
          </a:xfrm>
          <a:prstGeom prst="rect">
            <a:avLst/>
          </a:prstGeom>
          <a:noFill/>
          <a:ln/>
        </p:spPr>
        <p:txBody>
          <a:bodyPr wrap="square" lIns="0" tIns="0" rIns="0" bIns="0" rtlCol="0" anchor="ctr"/>
          <a:lstStyle/>
          <a:p>
            <a:pPr algn="ctr" indent="0" marL="0">
              <a:buNone/>
            </a:pPr>
            <a:r>
              <a:rPr lang="en-US" sz="900" b="1" spc="150" kern="0" dirty="0">
                <a:solidFill>
                  <a:srgbClr val="FFFFFF"/>
                </a:solidFill>
              </a:rPr>
              <a:t>LOW</a:t>
            </a:r>
            <a:endParaRPr lang="en-US" sz="900" dirty="0"/>
          </a:p>
        </p:txBody>
      </p:sp>
      <p:sp>
        <p:nvSpPr>
          <p:cNvPr id="28" name="Text 23"/>
          <p:cNvSpPr/>
          <p:nvPr/>
        </p:nvSpPr>
        <p:spPr>
          <a:xfrm>
            <a:off x="6355080" y="2377440"/>
            <a:ext cx="219456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Audit readiness</a:t>
            </a:r>
            <a:endParaRPr lang="en-US" sz="1350" dirty="0"/>
          </a:p>
        </p:txBody>
      </p:sp>
      <p:sp>
        <p:nvSpPr>
          <p:cNvPr id="29" name="Text 24"/>
          <p:cNvSpPr/>
          <p:nvPr/>
        </p:nvSpPr>
        <p:spPr>
          <a:xfrm>
            <a:off x="6355080" y="2724912"/>
            <a:ext cx="2194560" cy="1170432"/>
          </a:xfrm>
          <a:prstGeom prst="rect">
            <a:avLst/>
          </a:prstGeom>
          <a:noFill/>
          <a:ln/>
        </p:spPr>
        <p:txBody>
          <a:bodyPr wrap="square" lIns="0" tIns="0" rIns="0" bIns="0" rtlCol="0" anchor="ctr"/>
          <a:lstStyle/>
          <a:p>
            <a:pPr indent="0" marL="0">
              <a:lnSpc>
                <a:spcPts val="1300"/>
              </a:lnSpc>
              <a:buNone/>
            </a:pPr>
            <a:r>
              <a:rPr lang="en-US" sz="980" dirty="0">
                <a:solidFill>
                  <a:srgbClr val="5E6B94"/>
                </a:solidFill>
                <a:latin typeface="Calibri" pitchFamily="34" charset="0"/>
                <a:ea typeface="Calibri" pitchFamily="34" charset="-122"/>
                <a:cs typeface="Calibri" pitchFamily="34" charset="-120"/>
              </a:rPr>
              <a:t>First plan audit lands in Q1 2027. Auditor selection is late on the client side, compressing the PBC document window.</a:t>
            </a:r>
            <a:endParaRPr lang="en-US" sz="980" dirty="0"/>
          </a:p>
        </p:txBody>
      </p:sp>
      <p:sp>
        <p:nvSpPr>
          <p:cNvPr id="30" name="Text 25"/>
          <p:cNvSpPr/>
          <p:nvPr/>
        </p:nvSpPr>
        <p:spPr>
          <a:xfrm>
            <a:off x="6355080" y="3931920"/>
            <a:ext cx="2194560" cy="502920"/>
          </a:xfrm>
          <a:prstGeom prst="rect">
            <a:avLst/>
          </a:prstGeom>
          <a:noFill/>
          <a:ln/>
        </p:spPr>
        <p:txBody>
          <a:bodyPr wrap="square" lIns="0" tIns="0" rIns="0" bIns="0" rtlCol="0" anchor="ctr"/>
          <a:lstStyle/>
          <a:p>
            <a:pPr indent="0" marL="0">
              <a:lnSpc>
                <a:spcPts val="1200"/>
              </a:lnSpc>
              <a:buNone/>
            </a:pPr>
            <a:r>
              <a:rPr lang="en-US" sz="930" i="1" dirty="0">
                <a:solidFill>
                  <a:srgbClr val="1E2761"/>
                </a:solidFill>
                <a:latin typeface="Calibri" pitchFamily="34" charset="0"/>
                <a:ea typeface="Calibri" pitchFamily="34" charset="-122"/>
                <a:cs typeface="Calibri" pitchFamily="34" charset="-120"/>
              </a:rPr>
              <a:t>Mitigation: pre-built audit package; reminder cadence with CFO.</a:t>
            </a:r>
            <a:endParaRPr lang="en-US" sz="930" dirty="0"/>
          </a:p>
        </p:txBody>
      </p:sp>
      <p:sp>
        <p:nvSpPr>
          <p:cNvPr id="31" name="Shape 26"/>
          <p:cNvSpPr/>
          <p:nvPr/>
        </p:nvSpPr>
        <p:spPr>
          <a:xfrm>
            <a:off x="0" y="5070348"/>
            <a:ext cx="9144000" cy="73152"/>
          </a:xfrm>
          <a:prstGeom prst="rect">
            <a:avLst/>
          </a:prstGeom>
          <a:solidFill>
            <a:srgbClr val="1E2761"/>
          </a:solidFill>
          <a:ln/>
        </p:spPr>
      </p:sp>
      <p:sp>
        <p:nvSpPr>
          <p:cNvPr id="32" name="Text 27"/>
          <p:cNvSpPr/>
          <p:nvPr/>
        </p:nvSpPr>
        <p:spPr>
          <a:xfrm>
            <a:off x="502920" y="4809744"/>
            <a:ext cx="5486400" cy="228600"/>
          </a:xfrm>
          <a:prstGeom prst="rect">
            <a:avLst/>
          </a:prstGeom>
          <a:noFill/>
          <a:ln/>
        </p:spPr>
        <p:txBody>
          <a:bodyPr wrap="square" lIns="0" tIns="0" rIns="0" bIns="0" rtlCol="0" anchor="ctr"/>
          <a:lstStyle/>
          <a:p>
            <a:pPr indent="0" marL="0">
              <a:buNone/>
            </a:pPr>
            <a:r>
              <a:rPr lang="en-US" sz="850" dirty="0">
                <a:solidFill>
                  <a:srgbClr val="5E6B94"/>
                </a:solidFill>
                <a:latin typeface="Calibri" pitchFamily="34" charset="0"/>
                <a:ea typeface="Calibri" pitchFamily="34" charset="-122"/>
                <a:cs typeface="Calibri" pitchFamily="34" charset="-120"/>
              </a:rPr>
              <a:t>Executive Handoff Summary  ·  Meridian Manufacturing 401(k)</a:t>
            </a:r>
            <a:endParaRPr lang="en-US" sz="850" dirty="0"/>
          </a:p>
        </p:txBody>
      </p:sp>
      <p:sp>
        <p:nvSpPr>
          <p:cNvPr id="33" name="Text 28"/>
          <p:cNvSpPr/>
          <p:nvPr/>
        </p:nvSpPr>
        <p:spPr>
          <a:xfrm>
            <a:off x="8321040" y="4809744"/>
            <a:ext cx="320040" cy="228600"/>
          </a:xfrm>
          <a:prstGeom prst="rect">
            <a:avLst/>
          </a:prstGeom>
          <a:noFill/>
          <a:ln/>
        </p:spPr>
        <p:txBody>
          <a:bodyPr wrap="square" lIns="0" tIns="0" rIns="0" bIns="0" rtlCol="0" anchor="ctr"/>
          <a:lstStyle/>
          <a:p>
            <a:pPr algn="r" indent="0" marL="0">
              <a:buNone/>
            </a:pPr>
            <a:r>
              <a:rPr lang="en-US" sz="850" b="1" dirty="0">
                <a:solidFill>
                  <a:srgbClr val="5E6B94"/>
                </a:solidFill>
                <a:latin typeface="Calibri" pitchFamily="34" charset="0"/>
                <a:ea typeface="Calibri" pitchFamily="34" charset="-122"/>
                <a:cs typeface="Calibri" pitchFamily="34" charset="-120"/>
              </a:rPr>
              <a:t>08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56032"/>
          </a:xfrm>
          <a:prstGeom prst="rect">
            <a:avLst/>
          </a:prstGeom>
          <a:noFill/>
          <a:ln/>
        </p:spPr>
        <p:txBody>
          <a:bodyPr wrap="square" lIns="0" tIns="0" rIns="0" bIns="0" rtlCol="0" anchor="ctr"/>
          <a:lstStyle/>
          <a:p>
            <a:pPr indent="0" marL="0">
              <a:buNone/>
            </a:pPr>
            <a:r>
              <a:rPr lang="en-US" sz="1100" b="1" spc="300" kern="0" dirty="0">
                <a:solidFill>
                  <a:srgbClr val="9FBEE8"/>
                </a:solidFill>
                <a:latin typeface="Calibri" pitchFamily="34" charset="0"/>
                <a:ea typeface="Calibri" pitchFamily="34" charset="-122"/>
                <a:cs typeface="Calibri" pitchFamily="34" charset="-120"/>
              </a:rPr>
              <a:t>STAKEHOLDERS &amp; DECISIONS</a:t>
            </a:r>
            <a:endParaRPr lang="en-US" sz="1100" dirty="0"/>
          </a:p>
        </p:txBody>
      </p:sp>
      <p:sp>
        <p:nvSpPr>
          <p:cNvPr id="3" name="Text 1"/>
          <p:cNvSpPr/>
          <p:nvPr/>
        </p:nvSpPr>
        <p:spPr>
          <a:xfrm>
            <a:off x="502920" y="548640"/>
            <a:ext cx="8229600" cy="566928"/>
          </a:xfrm>
          <a:prstGeom prst="rect">
            <a:avLst/>
          </a:prstGeom>
          <a:noFill/>
          <a:ln/>
        </p:spPr>
        <p:txBody>
          <a:bodyPr wrap="square" lIns="0" tIns="0" rIns="0" bIns="0" rtlCol="0" anchor="t"/>
          <a:lstStyle/>
          <a:p>
            <a:pPr indent="0" marL="0">
              <a:buNone/>
            </a:pPr>
            <a:r>
              <a:rPr lang="en-US" sz="3000" b="1" dirty="0">
                <a:solidFill>
                  <a:srgbClr val="1E2761"/>
                </a:solidFill>
                <a:latin typeface="Georgia" pitchFamily="34" charset="0"/>
                <a:ea typeface="Georgia" pitchFamily="34" charset="-122"/>
                <a:cs typeface="Georgia" pitchFamily="34" charset="-120"/>
              </a:rPr>
              <a:t>Who to know, what was decided</a:t>
            </a:r>
            <a:endParaRPr lang="en-US" sz="3000" dirty="0"/>
          </a:p>
        </p:txBody>
      </p:sp>
      <p:sp>
        <p:nvSpPr>
          <p:cNvPr id="4" name="Text 2"/>
          <p:cNvSpPr/>
          <p:nvPr/>
        </p:nvSpPr>
        <p:spPr>
          <a:xfrm>
            <a:off x="502920" y="1517904"/>
            <a:ext cx="3657600" cy="237744"/>
          </a:xfrm>
          <a:prstGeom prst="rect">
            <a:avLst/>
          </a:prstGeom>
          <a:noFill/>
          <a:ln/>
        </p:spPr>
        <p:txBody>
          <a:bodyPr wrap="square" lIns="0" tIns="0" rIns="0" bIns="0" rtlCol="0" anchor="ctr"/>
          <a:lstStyle/>
          <a:p>
            <a:pPr indent="0" marL="0">
              <a:buNone/>
            </a:pPr>
            <a:r>
              <a:rPr lang="en-US" sz="1050" b="1" spc="250" kern="0" dirty="0">
                <a:solidFill>
                  <a:srgbClr val="9FBEE8"/>
                </a:solidFill>
                <a:latin typeface="Calibri" pitchFamily="34" charset="0"/>
                <a:ea typeface="Calibri" pitchFamily="34" charset="-122"/>
                <a:cs typeface="Calibri" pitchFamily="34" charset="-120"/>
              </a:rPr>
              <a:t>KEY STAKEHOLDERS</a:t>
            </a:r>
            <a:endParaRPr lang="en-US" sz="1050" dirty="0"/>
          </a:p>
        </p:txBody>
      </p:sp>
      <p:sp>
        <p:nvSpPr>
          <p:cNvPr id="5" name="Shape 3"/>
          <p:cNvSpPr/>
          <p:nvPr/>
        </p:nvSpPr>
        <p:spPr>
          <a:xfrm>
            <a:off x="502920" y="1773936"/>
            <a:ext cx="530352" cy="530352"/>
          </a:xfrm>
          <a:prstGeom prst="ellipse">
            <a:avLst/>
          </a:prstGeom>
          <a:solidFill>
            <a:srgbClr val="1E2761"/>
          </a:solidFill>
          <a:ln/>
        </p:spPr>
      </p:sp>
      <p:sp>
        <p:nvSpPr>
          <p:cNvPr id="6" name="Text 4"/>
          <p:cNvSpPr/>
          <p:nvPr/>
        </p:nvSpPr>
        <p:spPr>
          <a:xfrm>
            <a:off x="502920" y="1755648"/>
            <a:ext cx="530352" cy="530352"/>
          </a:xfrm>
          <a:prstGeom prst="rect">
            <a:avLst/>
          </a:prstGeom>
          <a:noFill/>
          <a:ln/>
        </p:spPr>
        <p:txBody>
          <a:bodyPr wrap="square" lIns="0" tIns="0" rIns="0" bIns="0" rtlCol="0" anchor="ctr"/>
          <a:lstStyle/>
          <a:p>
            <a:pPr algn="ctr" indent="0" marL="0">
              <a:buNone/>
            </a:pPr>
            <a:r>
              <a:rPr lang="en-US" sz="1300" b="1" dirty="0">
                <a:solidFill>
                  <a:srgbClr val="CADCFC"/>
                </a:solidFill>
                <a:latin typeface="Georgia" pitchFamily="34" charset="0"/>
                <a:ea typeface="Georgia" pitchFamily="34" charset="-122"/>
                <a:cs typeface="Georgia" pitchFamily="34" charset="-120"/>
              </a:rPr>
              <a:t>LC</a:t>
            </a:r>
            <a:endParaRPr lang="en-US" sz="1300" dirty="0"/>
          </a:p>
        </p:txBody>
      </p:sp>
      <p:sp>
        <p:nvSpPr>
          <p:cNvPr id="7" name="Text 5"/>
          <p:cNvSpPr/>
          <p:nvPr/>
        </p:nvSpPr>
        <p:spPr>
          <a:xfrm>
            <a:off x="1188720" y="1783080"/>
            <a:ext cx="2926080"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Laura Chen</a:t>
            </a:r>
            <a:endParaRPr lang="en-US" sz="1250" dirty="0"/>
          </a:p>
        </p:txBody>
      </p:sp>
      <p:sp>
        <p:nvSpPr>
          <p:cNvPr id="8" name="Text 6"/>
          <p:cNvSpPr/>
          <p:nvPr/>
        </p:nvSpPr>
        <p:spPr>
          <a:xfrm>
            <a:off x="1188720" y="2048256"/>
            <a:ext cx="3017520" cy="256032"/>
          </a:xfrm>
          <a:prstGeom prst="rect">
            <a:avLst/>
          </a:prstGeom>
          <a:noFill/>
          <a:ln/>
        </p:spPr>
        <p:txBody>
          <a:bodyPr wrap="square" lIns="0" tIns="0" rIns="0" bIns="0" rtlCol="0" anchor="ctr"/>
          <a:lstStyle/>
          <a:p>
            <a:pPr indent="0" marL="0">
              <a:buNone/>
            </a:pPr>
            <a:r>
              <a:rPr lang="en-US" sz="1000" dirty="0">
                <a:solidFill>
                  <a:srgbClr val="5E6B94"/>
                </a:solidFill>
                <a:latin typeface="Calibri" pitchFamily="34" charset="0"/>
                <a:ea typeface="Calibri" pitchFamily="34" charset="-122"/>
                <a:cs typeface="Calibri" pitchFamily="34" charset="-120"/>
              </a:rPr>
              <a:t>CFO — plan sponsor decision maker</a:t>
            </a:r>
            <a:endParaRPr lang="en-US" sz="1000" dirty="0"/>
          </a:p>
        </p:txBody>
      </p:sp>
      <p:sp>
        <p:nvSpPr>
          <p:cNvPr id="9" name="Shape 7"/>
          <p:cNvSpPr/>
          <p:nvPr/>
        </p:nvSpPr>
        <p:spPr>
          <a:xfrm>
            <a:off x="502920" y="2487168"/>
            <a:ext cx="530352" cy="530352"/>
          </a:xfrm>
          <a:prstGeom prst="ellipse">
            <a:avLst/>
          </a:prstGeom>
          <a:solidFill>
            <a:srgbClr val="1E2761"/>
          </a:solidFill>
          <a:ln/>
        </p:spPr>
      </p:sp>
      <p:sp>
        <p:nvSpPr>
          <p:cNvPr id="10" name="Text 8"/>
          <p:cNvSpPr/>
          <p:nvPr/>
        </p:nvSpPr>
        <p:spPr>
          <a:xfrm>
            <a:off x="502920" y="2468880"/>
            <a:ext cx="530352" cy="530352"/>
          </a:xfrm>
          <a:prstGeom prst="rect">
            <a:avLst/>
          </a:prstGeom>
          <a:noFill/>
          <a:ln/>
        </p:spPr>
        <p:txBody>
          <a:bodyPr wrap="square" lIns="0" tIns="0" rIns="0" bIns="0" rtlCol="0" anchor="ctr"/>
          <a:lstStyle/>
          <a:p>
            <a:pPr algn="ctr" indent="0" marL="0">
              <a:buNone/>
            </a:pPr>
            <a:r>
              <a:rPr lang="en-US" sz="1300" b="1" dirty="0">
                <a:solidFill>
                  <a:srgbClr val="CADCFC"/>
                </a:solidFill>
                <a:latin typeface="Georgia" pitchFamily="34" charset="0"/>
                <a:ea typeface="Georgia" pitchFamily="34" charset="-122"/>
                <a:cs typeface="Georgia" pitchFamily="34" charset="-120"/>
              </a:rPr>
              <a:t>RB</a:t>
            </a:r>
            <a:endParaRPr lang="en-US" sz="1300" dirty="0"/>
          </a:p>
        </p:txBody>
      </p:sp>
      <p:sp>
        <p:nvSpPr>
          <p:cNvPr id="11" name="Text 9"/>
          <p:cNvSpPr/>
          <p:nvPr/>
        </p:nvSpPr>
        <p:spPr>
          <a:xfrm>
            <a:off x="1188720" y="2496312"/>
            <a:ext cx="2926080"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Rob Bauer</a:t>
            </a:r>
            <a:endParaRPr lang="en-US" sz="1250" dirty="0"/>
          </a:p>
        </p:txBody>
      </p:sp>
      <p:sp>
        <p:nvSpPr>
          <p:cNvPr id="12" name="Text 10"/>
          <p:cNvSpPr/>
          <p:nvPr/>
        </p:nvSpPr>
        <p:spPr>
          <a:xfrm>
            <a:off x="1188720" y="2761488"/>
            <a:ext cx="3017520" cy="256032"/>
          </a:xfrm>
          <a:prstGeom prst="rect">
            <a:avLst/>
          </a:prstGeom>
          <a:noFill/>
          <a:ln/>
        </p:spPr>
        <p:txBody>
          <a:bodyPr wrap="square" lIns="0" tIns="0" rIns="0" bIns="0" rtlCol="0" anchor="ctr"/>
          <a:lstStyle/>
          <a:p>
            <a:pPr indent="0" marL="0">
              <a:buNone/>
            </a:pPr>
            <a:r>
              <a:rPr lang="en-US" sz="1000" dirty="0">
                <a:solidFill>
                  <a:srgbClr val="5E6B94"/>
                </a:solidFill>
                <a:latin typeface="Calibri" pitchFamily="34" charset="0"/>
                <a:ea typeface="Calibri" pitchFamily="34" charset="-122"/>
                <a:cs typeface="Calibri" pitchFamily="34" charset="-120"/>
              </a:rPr>
              <a:t>Plan committee chair, quarterly reviews</a:t>
            </a:r>
            <a:endParaRPr lang="en-US" sz="1000" dirty="0"/>
          </a:p>
        </p:txBody>
      </p:sp>
      <p:sp>
        <p:nvSpPr>
          <p:cNvPr id="13" name="Shape 11"/>
          <p:cNvSpPr/>
          <p:nvPr/>
        </p:nvSpPr>
        <p:spPr>
          <a:xfrm>
            <a:off x="502920" y="3200400"/>
            <a:ext cx="530352" cy="530352"/>
          </a:xfrm>
          <a:prstGeom prst="ellipse">
            <a:avLst/>
          </a:prstGeom>
          <a:solidFill>
            <a:srgbClr val="1E2761"/>
          </a:solidFill>
          <a:ln/>
        </p:spPr>
      </p:sp>
      <p:sp>
        <p:nvSpPr>
          <p:cNvPr id="14" name="Text 12"/>
          <p:cNvSpPr/>
          <p:nvPr/>
        </p:nvSpPr>
        <p:spPr>
          <a:xfrm>
            <a:off x="502920" y="3182112"/>
            <a:ext cx="530352" cy="530352"/>
          </a:xfrm>
          <a:prstGeom prst="rect">
            <a:avLst/>
          </a:prstGeom>
          <a:noFill/>
          <a:ln/>
        </p:spPr>
        <p:txBody>
          <a:bodyPr wrap="square" lIns="0" tIns="0" rIns="0" bIns="0" rtlCol="0" anchor="ctr"/>
          <a:lstStyle/>
          <a:p>
            <a:pPr algn="ctr" indent="0" marL="0">
              <a:buNone/>
            </a:pPr>
            <a:r>
              <a:rPr lang="en-US" sz="1300" b="1" dirty="0">
                <a:solidFill>
                  <a:srgbClr val="CADCFC"/>
                </a:solidFill>
                <a:latin typeface="Georgia" pitchFamily="34" charset="0"/>
                <a:ea typeface="Georgia" pitchFamily="34" charset="-122"/>
                <a:cs typeface="Georgia" pitchFamily="34" charset="-120"/>
              </a:rPr>
              <a:t>AN</a:t>
            </a:r>
            <a:endParaRPr lang="en-US" sz="1300" dirty="0"/>
          </a:p>
        </p:txBody>
      </p:sp>
      <p:sp>
        <p:nvSpPr>
          <p:cNvPr id="15" name="Text 13"/>
          <p:cNvSpPr/>
          <p:nvPr/>
        </p:nvSpPr>
        <p:spPr>
          <a:xfrm>
            <a:off x="1188720" y="3209544"/>
            <a:ext cx="2926080"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Anita Novak</a:t>
            </a:r>
            <a:endParaRPr lang="en-US" sz="1250" dirty="0"/>
          </a:p>
        </p:txBody>
      </p:sp>
      <p:sp>
        <p:nvSpPr>
          <p:cNvPr id="16" name="Text 14"/>
          <p:cNvSpPr/>
          <p:nvPr/>
        </p:nvSpPr>
        <p:spPr>
          <a:xfrm>
            <a:off x="1188720" y="3474720"/>
            <a:ext cx="3017520" cy="256032"/>
          </a:xfrm>
          <a:prstGeom prst="rect">
            <a:avLst/>
          </a:prstGeom>
          <a:noFill/>
          <a:ln/>
        </p:spPr>
        <p:txBody>
          <a:bodyPr wrap="square" lIns="0" tIns="0" rIns="0" bIns="0" rtlCol="0" anchor="ctr"/>
          <a:lstStyle/>
          <a:p>
            <a:pPr indent="0" marL="0">
              <a:buNone/>
            </a:pPr>
            <a:r>
              <a:rPr lang="en-US" sz="1000" dirty="0">
                <a:solidFill>
                  <a:srgbClr val="5E6B94"/>
                </a:solidFill>
                <a:latin typeface="Calibri" pitchFamily="34" charset="0"/>
                <a:ea typeface="Calibri" pitchFamily="34" charset="-122"/>
                <a:cs typeface="Calibri" pitchFamily="34" charset="-120"/>
              </a:rPr>
              <a:t>Incoming benefits manager (from Aug)</a:t>
            </a:r>
            <a:endParaRPr lang="en-US" sz="1000" dirty="0"/>
          </a:p>
        </p:txBody>
      </p:sp>
      <p:sp>
        <p:nvSpPr>
          <p:cNvPr id="17" name="Shape 15"/>
          <p:cNvSpPr/>
          <p:nvPr/>
        </p:nvSpPr>
        <p:spPr>
          <a:xfrm>
            <a:off x="502920" y="3913632"/>
            <a:ext cx="530352" cy="530352"/>
          </a:xfrm>
          <a:prstGeom prst="ellipse">
            <a:avLst/>
          </a:prstGeom>
          <a:solidFill>
            <a:srgbClr val="1E2761"/>
          </a:solidFill>
          <a:ln/>
        </p:spPr>
      </p:sp>
      <p:sp>
        <p:nvSpPr>
          <p:cNvPr id="18" name="Text 16"/>
          <p:cNvSpPr/>
          <p:nvPr/>
        </p:nvSpPr>
        <p:spPr>
          <a:xfrm>
            <a:off x="502920" y="3895344"/>
            <a:ext cx="530352" cy="530352"/>
          </a:xfrm>
          <a:prstGeom prst="rect">
            <a:avLst/>
          </a:prstGeom>
          <a:noFill/>
          <a:ln/>
        </p:spPr>
        <p:txBody>
          <a:bodyPr wrap="square" lIns="0" tIns="0" rIns="0" bIns="0" rtlCol="0" anchor="ctr"/>
          <a:lstStyle/>
          <a:p>
            <a:pPr algn="ctr" indent="0" marL="0">
              <a:buNone/>
            </a:pPr>
            <a:r>
              <a:rPr lang="en-US" sz="1300" b="1" dirty="0">
                <a:solidFill>
                  <a:srgbClr val="CADCFC"/>
                </a:solidFill>
                <a:latin typeface="Georgia" pitchFamily="34" charset="0"/>
                <a:ea typeface="Georgia" pitchFamily="34" charset="-122"/>
                <a:cs typeface="Georgia" pitchFamily="34" charset="-120"/>
              </a:rPr>
              <a:t>GP</a:t>
            </a:r>
            <a:endParaRPr lang="en-US" sz="1300" dirty="0"/>
          </a:p>
        </p:txBody>
      </p:sp>
      <p:sp>
        <p:nvSpPr>
          <p:cNvPr id="19" name="Text 17"/>
          <p:cNvSpPr/>
          <p:nvPr/>
        </p:nvSpPr>
        <p:spPr>
          <a:xfrm>
            <a:off x="1188720" y="3922776"/>
            <a:ext cx="2926080"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Gary Price</a:t>
            </a:r>
            <a:endParaRPr lang="en-US" sz="1250" dirty="0"/>
          </a:p>
        </p:txBody>
      </p:sp>
      <p:sp>
        <p:nvSpPr>
          <p:cNvPr id="20" name="Text 18"/>
          <p:cNvSpPr/>
          <p:nvPr/>
        </p:nvSpPr>
        <p:spPr>
          <a:xfrm>
            <a:off x="1188720" y="4187952"/>
            <a:ext cx="3017520" cy="256032"/>
          </a:xfrm>
          <a:prstGeom prst="rect">
            <a:avLst/>
          </a:prstGeom>
          <a:noFill/>
          <a:ln/>
        </p:spPr>
        <p:txBody>
          <a:bodyPr wrap="square" lIns="0" tIns="0" rIns="0" bIns="0" rtlCol="0" anchor="ctr"/>
          <a:lstStyle/>
          <a:p>
            <a:pPr indent="0" marL="0">
              <a:buNone/>
            </a:pPr>
            <a:r>
              <a:rPr lang="en-US" sz="1000" dirty="0">
                <a:solidFill>
                  <a:srgbClr val="5E6B94"/>
                </a:solidFill>
                <a:latin typeface="Calibri" pitchFamily="34" charset="0"/>
                <a:ea typeface="Calibri" pitchFamily="34" charset="-122"/>
                <a:cs typeface="Calibri" pitchFamily="34" charset="-120"/>
              </a:rPr>
              <a:t>Advisor of record, Price Retirement Group</a:t>
            </a:r>
            <a:endParaRPr lang="en-US" sz="1000" dirty="0"/>
          </a:p>
        </p:txBody>
      </p:sp>
      <p:sp>
        <p:nvSpPr>
          <p:cNvPr id="21" name="Shape 19"/>
          <p:cNvSpPr/>
          <p:nvPr/>
        </p:nvSpPr>
        <p:spPr>
          <a:xfrm>
            <a:off x="4617720" y="1444752"/>
            <a:ext cx="4023360" cy="3200400"/>
          </a:xfrm>
          <a:prstGeom prst="rect">
            <a:avLst/>
          </a:prstGeom>
          <a:solidFill>
            <a:srgbClr val="1E2761"/>
          </a:solidFill>
          <a:ln/>
        </p:spPr>
      </p:sp>
      <p:sp>
        <p:nvSpPr>
          <p:cNvPr id="22" name="Text 20"/>
          <p:cNvSpPr/>
          <p:nvPr/>
        </p:nvSpPr>
        <p:spPr>
          <a:xfrm>
            <a:off x="4892040" y="1664208"/>
            <a:ext cx="3474720" cy="237744"/>
          </a:xfrm>
          <a:prstGeom prst="rect">
            <a:avLst/>
          </a:prstGeom>
          <a:noFill/>
          <a:ln/>
        </p:spPr>
        <p:txBody>
          <a:bodyPr wrap="square" lIns="0" tIns="0" rIns="0" bIns="0" rtlCol="0" anchor="ctr"/>
          <a:lstStyle/>
          <a:p>
            <a:pPr indent="0" marL="0">
              <a:buNone/>
            </a:pPr>
            <a:r>
              <a:rPr lang="en-US" sz="1050" b="1" spc="250" kern="0" dirty="0">
                <a:solidFill>
                  <a:srgbClr val="9FBEE8"/>
                </a:solidFill>
                <a:latin typeface="Calibri" pitchFamily="34" charset="0"/>
                <a:ea typeface="Calibri" pitchFamily="34" charset="-122"/>
                <a:cs typeface="Calibri" pitchFamily="34" charset="-120"/>
              </a:rPr>
              <a:t>DECISIONS ALREADY MADE</a:t>
            </a:r>
            <a:endParaRPr lang="en-US" sz="1050" dirty="0"/>
          </a:p>
        </p:txBody>
      </p:sp>
      <p:sp>
        <p:nvSpPr>
          <p:cNvPr id="23" name="Text 21"/>
          <p:cNvSpPr/>
          <p:nvPr/>
        </p:nvSpPr>
        <p:spPr>
          <a:xfrm>
            <a:off x="4892040" y="2011680"/>
            <a:ext cx="3474720" cy="2468880"/>
          </a:xfrm>
          <a:prstGeom prst="rect">
            <a:avLst/>
          </a:prstGeom>
          <a:noFill/>
          <a:ln/>
        </p:spPr>
        <p:txBody>
          <a:bodyPr wrap="square" lIns="0" tIns="0" rIns="0" bIns="0" rtlCol="0" anchor="ctr"/>
          <a:lstStyle/>
          <a:p>
            <a:pPr marL="342900" indent="-342900">
              <a:lnSpc>
                <a:spcPts val="1400"/>
              </a:lnSpc>
              <a:spcAft>
                <a:spcPts val="1000"/>
              </a:spcAft>
              <a:buSzPct val="100000"/>
              <a:buChar char="•"/>
            </a:pPr>
            <a:r>
              <a:rPr lang="en-US" sz="1100" dirty="0">
                <a:solidFill>
                  <a:srgbClr val="CADCFC"/>
                </a:solidFill>
                <a:latin typeface="Calibri" pitchFamily="34" charset="0"/>
                <a:ea typeface="Calibri" pitchFamily="34" charset="-122"/>
                <a:cs typeface="Calibri" pitchFamily="34" charset="-120"/>
              </a:rPr>
              <a:t>Auto-enrollment at 6% with 1% annual escalation to 10% — approved Nov 2025</a:t>
            </a:r>
            <a:endParaRPr lang="en-US" sz="1100" dirty="0"/>
          </a:p>
          <a:p>
            <a:pPr marL="342900" indent="-342900">
              <a:lnSpc>
                <a:spcPts val="1400"/>
              </a:lnSpc>
              <a:spcAft>
                <a:spcPts val="1000"/>
              </a:spcAft>
              <a:buSzPct val="100000"/>
              <a:buChar char="•"/>
            </a:pPr>
            <a:r>
              <a:rPr lang="en-US" sz="1100" dirty="0">
                <a:solidFill>
                  <a:srgbClr val="CADCFC"/>
                </a:solidFill>
                <a:latin typeface="Calibri" pitchFamily="34" charset="0"/>
                <a:ea typeface="Calibri" pitchFamily="34" charset="-122"/>
                <a:cs typeface="Calibri" pitchFamily="34" charset="-120"/>
              </a:rPr>
              <a:t>QDIA mapped to target-date suite, R6 shares — approved Jan 2026</a:t>
            </a:r>
            <a:endParaRPr lang="en-US" sz="1100" dirty="0"/>
          </a:p>
          <a:p>
            <a:pPr marL="342900" indent="-342900">
              <a:lnSpc>
                <a:spcPts val="1400"/>
              </a:lnSpc>
              <a:spcAft>
                <a:spcPts val="1000"/>
              </a:spcAft>
              <a:buSzPct val="100000"/>
              <a:buChar char="•"/>
            </a:pPr>
            <a:r>
              <a:rPr lang="en-US" sz="1100" dirty="0">
                <a:solidFill>
                  <a:srgbClr val="CADCFC"/>
                </a:solidFill>
                <a:latin typeface="Calibri" pitchFamily="34" charset="0"/>
                <a:ea typeface="Calibri" pitchFamily="34" charset="-122"/>
                <a:cs typeface="Calibri" pitchFamily="34" charset="-120"/>
              </a:rPr>
              <a:t>Per-head fee structure locked for 3 years — signed May 2025</a:t>
            </a:r>
            <a:endParaRPr lang="en-US" sz="1100" dirty="0"/>
          </a:p>
          <a:p>
            <a:pPr marL="342900" indent="-342900">
              <a:lnSpc>
                <a:spcPts val="1400"/>
              </a:lnSpc>
              <a:spcAft>
                <a:spcPts val="1000"/>
              </a:spcAft>
              <a:buSzPct val="100000"/>
              <a:buChar char="•"/>
            </a:pPr>
            <a:r>
              <a:rPr lang="en-US" sz="1100" dirty="0">
                <a:solidFill>
                  <a:srgbClr val="CADCFC"/>
                </a:solidFill>
                <a:latin typeface="Calibri" pitchFamily="34" charset="0"/>
                <a:ea typeface="Calibri" pitchFamily="34" charset="-122"/>
                <a:cs typeface="Calibri" pitchFamily="34" charset="-120"/>
              </a:rPr>
              <a:t>Managed-account pilot for 55+ cohort — approved Jun 2026, pending vendor</a:t>
            </a:r>
            <a:endParaRPr lang="en-US" sz="1100" dirty="0"/>
          </a:p>
        </p:txBody>
      </p:sp>
      <p:sp>
        <p:nvSpPr>
          <p:cNvPr id="24" name="Shape 22"/>
          <p:cNvSpPr/>
          <p:nvPr/>
        </p:nvSpPr>
        <p:spPr>
          <a:xfrm>
            <a:off x="0" y="5070348"/>
            <a:ext cx="9144000" cy="73152"/>
          </a:xfrm>
          <a:prstGeom prst="rect">
            <a:avLst/>
          </a:prstGeom>
          <a:solidFill>
            <a:srgbClr val="1E2761"/>
          </a:solidFill>
          <a:ln/>
        </p:spPr>
      </p:sp>
      <p:sp>
        <p:nvSpPr>
          <p:cNvPr id="25" name="Text 23"/>
          <p:cNvSpPr/>
          <p:nvPr/>
        </p:nvSpPr>
        <p:spPr>
          <a:xfrm>
            <a:off x="502920" y="4809744"/>
            <a:ext cx="5486400" cy="228600"/>
          </a:xfrm>
          <a:prstGeom prst="rect">
            <a:avLst/>
          </a:prstGeom>
          <a:noFill/>
          <a:ln/>
        </p:spPr>
        <p:txBody>
          <a:bodyPr wrap="square" lIns="0" tIns="0" rIns="0" bIns="0" rtlCol="0" anchor="ctr"/>
          <a:lstStyle/>
          <a:p>
            <a:pPr indent="0" marL="0">
              <a:buNone/>
            </a:pPr>
            <a:r>
              <a:rPr lang="en-US" sz="850" dirty="0">
                <a:solidFill>
                  <a:srgbClr val="5E6B94"/>
                </a:solidFill>
                <a:latin typeface="Calibri" pitchFamily="34" charset="0"/>
                <a:ea typeface="Calibri" pitchFamily="34" charset="-122"/>
                <a:cs typeface="Calibri" pitchFamily="34" charset="-120"/>
              </a:rPr>
              <a:t>Executive Handoff Summary  ·  Meridian Manufacturing 401(k)</a:t>
            </a:r>
            <a:endParaRPr lang="en-US" sz="850" dirty="0"/>
          </a:p>
        </p:txBody>
      </p:sp>
      <p:sp>
        <p:nvSpPr>
          <p:cNvPr id="26" name="Text 24"/>
          <p:cNvSpPr/>
          <p:nvPr/>
        </p:nvSpPr>
        <p:spPr>
          <a:xfrm>
            <a:off x="8321040" y="4809744"/>
            <a:ext cx="320040" cy="228600"/>
          </a:xfrm>
          <a:prstGeom prst="rect">
            <a:avLst/>
          </a:prstGeom>
          <a:noFill/>
          <a:ln/>
        </p:spPr>
        <p:txBody>
          <a:bodyPr wrap="square" lIns="0" tIns="0" rIns="0" bIns="0" rtlCol="0" anchor="ctr"/>
          <a:lstStyle/>
          <a:p>
            <a:pPr algn="r" indent="0" marL="0">
              <a:buNone/>
            </a:pPr>
            <a:r>
              <a:rPr lang="en-US" sz="850" b="1" dirty="0">
                <a:solidFill>
                  <a:srgbClr val="5E6B94"/>
                </a:solidFill>
                <a:latin typeface="Calibri" pitchFamily="34" charset="0"/>
                <a:ea typeface="Calibri" pitchFamily="34" charset="-122"/>
                <a:cs typeface="Calibri" pitchFamily="34" charset="-120"/>
              </a:rPr>
              <a:t>09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94360" y="502920"/>
            <a:ext cx="5486400" cy="274320"/>
          </a:xfrm>
          <a:prstGeom prst="rect">
            <a:avLst/>
          </a:prstGeom>
          <a:noFill/>
          <a:ln/>
        </p:spPr>
        <p:txBody>
          <a:bodyPr wrap="square" lIns="0" tIns="0" rIns="0" bIns="0" rtlCol="0" anchor="ctr"/>
          <a:lstStyle/>
          <a:p>
            <a:pPr indent="0" marL="0">
              <a:buNone/>
            </a:pPr>
            <a:r>
              <a:rPr lang="en-US" sz="1200" b="1" spc="350" kern="0" dirty="0">
                <a:solidFill>
                  <a:srgbClr val="9FBEE8"/>
                </a:solidFill>
                <a:latin typeface="Calibri" pitchFamily="34" charset="0"/>
                <a:ea typeface="Calibri" pitchFamily="34" charset="-122"/>
                <a:cs typeface="Calibri" pitchFamily="34" charset="-120"/>
              </a:rPr>
              <a:t>THE 90-DAY RUNWAY</a:t>
            </a:r>
            <a:endParaRPr lang="en-US" sz="1200" dirty="0"/>
          </a:p>
        </p:txBody>
      </p:sp>
      <p:sp>
        <p:nvSpPr>
          <p:cNvPr id="3" name="Text 1"/>
          <p:cNvSpPr/>
          <p:nvPr/>
        </p:nvSpPr>
        <p:spPr>
          <a:xfrm>
            <a:off x="566928" y="804672"/>
            <a:ext cx="6858000" cy="68580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Immediate priorities</a:t>
            </a:r>
            <a:endParaRPr lang="en-US" sz="3400" dirty="0"/>
          </a:p>
        </p:txBody>
      </p:sp>
      <p:sp>
        <p:nvSpPr>
          <p:cNvPr id="4" name="Shape 2"/>
          <p:cNvSpPr/>
          <p:nvPr/>
        </p:nvSpPr>
        <p:spPr>
          <a:xfrm>
            <a:off x="594360" y="1783080"/>
            <a:ext cx="2542032" cy="1627632"/>
          </a:xfrm>
          <a:prstGeom prst="rect">
            <a:avLst/>
          </a:prstGeom>
          <a:solidFill>
            <a:srgbClr val="27337A"/>
          </a:solidFill>
          <a:ln/>
        </p:spPr>
      </p:sp>
      <p:sp>
        <p:nvSpPr>
          <p:cNvPr id="5" name="Shape 3"/>
          <p:cNvSpPr/>
          <p:nvPr/>
        </p:nvSpPr>
        <p:spPr>
          <a:xfrm>
            <a:off x="594360" y="1783080"/>
            <a:ext cx="2542032" cy="64008"/>
          </a:xfrm>
          <a:prstGeom prst="rect">
            <a:avLst/>
          </a:prstGeom>
          <a:solidFill>
            <a:srgbClr val="CADCFC"/>
          </a:solidFill>
          <a:ln/>
        </p:spPr>
      </p:sp>
      <p:sp>
        <p:nvSpPr>
          <p:cNvPr id="6" name="Text 4"/>
          <p:cNvSpPr/>
          <p:nvPr/>
        </p:nvSpPr>
        <p:spPr>
          <a:xfrm>
            <a:off x="795528" y="1956816"/>
            <a:ext cx="2103120" cy="274320"/>
          </a:xfrm>
          <a:prstGeom prst="rect">
            <a:avLst/>
          </a:prstGeom>
          <a:noFill/>
          <a:ln/>
        </p:spPr>
        <p:txBody>
          <a:bodyPr wrap="square" lIns="0" tIns="0" rIns="0" bIns="0" rtlCol="0" anchor="ctr"/>
          <a:lstStyle/>
          <a:p>
            <a:pPr indent="0" marL="0">
              <a:buNone/>
            </a:pPr>
            <a:r>
              <a:rPr lang="en-US" sz="1250" b="1" spc="250" kern="0" dirty="0">
                <a:solidFill>
                  <a:srgbClr val="CADCFC"/>
                </a:solidFill>
                <a:latin typeface="Calibri" pitchFamily="34" charset="0"/>
                <a:ea typeface="Calibri" pitchFamily="34" charset="-122"/>
                <a:cs typeface="Calibri" pitchFamily="34" charset="-120"/>
              </a:rPr>
              <a:t>30 DAYS</a:t>
            </a:r>
            <a:endParaRPr lang="en-US" sz="1250" dirty="0"/>
          </a:p>
        </p:txBody>
      </p:sp>
      <p:sp>
        <p:nvSpPr>
          <p:cNvPr id="7" name="Text 5"/>
          <p:cNvSpPr/>
          <p:nvPr/>
        </p:nvSpPr>
        <p:spPr>
          <a:xfrm>
            <a:off x="795528" y="2286000"/>
            <a:ext cx="2176272" cy="1005840"/>
          </a:xfrm>
          <a:prstGeom prst="rect">
            <a:avLst/>
          </a:prstGeom>
          <a:noFill/>
          <a:ln/>
        </p:spPr>
        <p:txBody>
          <a:bodyPr wrap="square" lIns="0" tIns="0" rIns="0" bIns="0" rtlCol="0" anchor="ctr"/>
          <a:lstStyle/>
          <a:p>
            <a:pPr indent="0" marL="0">
              <a:lnSpc>
                <a:spcPts val="1500"/>
              </a:lnSpc>
              <a:buNone/>
            </a:pPr>
            <a:r>
              <a:rPr lang="en-US" sz="1100" dirty="0">
                <a:solidFill>
                  <a:srgbClr val="FFFFFF"/>
                </a:solidFill>
                <a:latin typeface="Calibri" pitchFamily="34" charset="0"/>
                <a:ea typeface="Calibri" pitchFamily="34" charset="-122"/>
                <a:cs typeface="Calibri" pitchFamily="34" charset="-120"/>
              </a:rPr>
              <a:t>Sign managed-account vendor SOW and confirm pilot cohort of 120 participants.</a:t>
            </a:r>
            <a:endParaRPr lang="en-US" sz="1100" dirty="0"/>
          </a:p>
        </p:txBody>
      </p:sp>
      <p:sp>
        <p:nvSpPr>
          <p:cNvPr id="8" name="Shape 6"/>
          <p:cNvSpPr/>
          <p:nvPr/>
        </p:nvSpPr>
        <p:spPr>
          <a:xfrm>
            <a:off x="3355848" y="1783080"/>
            <a:ext cx="2542032" cy="1627632"/>
          </a:xfrm>
          <a:prstGeom prst="rect">
            <a:avLst/>
          </a:prstGeom>
          <a:solidFill>
            <a:srgbClr val="27337A"/>
          </a:solidFill>
          <a:ln/>
        </p:spPr>
      </p:sp>
      <p:sp>
        <p:nvSpPr>
          <p:cNvPr id="9" name="Shape 7"/>
          <p:cNvSpPr/>
          <p:nvPr/>
        </p:nvSpPr>
        <p:spPr>
          <a:xfrm>
            <a:off x="3355848" y="1783080"/>
            <a:ext cx="2542032" cy="64008"/>
          </a:xfrm>
          <a:prstGeom prst="rect">
            <a:avLst/>
          </a:prstGeom>
          <a:solidFill>
            <a:srgbClr val="CADCFC"/>
          </a:solidFill>
          <a:ln/>
        </p:spPr>
      </p:sp>
      <p:sp>
        <p:nvSpPr>
          <p:cNvPr id="10" name="Text 8"/>
          <p:cNvSpPr/>
          <p:nvPr/>
        </p:nvSpPr>
        <p:spPr>
          <a:xfrm>
            <a:off x="3557016" y="1956816"/>
            <a:ext cx="2103120" cy="274320"/>
          </a:xfrm>
          <a:prstGeom prst="rect">
            <a:avLst/>
          </a:prstGeom>
          <a:noFill/>
          <a:ln/>
        </p:spPr>
        <p:txBody>
          <a:bodyPr wrap="square" lIns="0" tIns="0" rIns="0" bIns="0" rtlCol="0" anchor="ctr"/>
          <a:lstStyle/>
          <a:p>
            <a:pPr indent="0" marL="0">
              <a:buNone/>
            </a:pPr>
            <a:r>
              <a:rPr lang="en-US" sz="1250" b="1" spc="250" kern="0" dirty="0">
                <a:solidFill>
                  <a:srgbClr val="CADCFC"/>
                </a:solidFill>
                <a:latin typeface="Calibri" pitchFamily="34" charset="0"/>
                <a:ea typeface="Calibri" pitchFamily="34" charset="-122"/>
                <a:cs typeface="Calibri" pitchFamily="34" charset="-120"/>
              </a:rPr>
              <a:t>60 DAYS</a:t>
            </a:r>
            <a:endParaRPr lang="en-US" sz="1250" dirty="0"/>
          </a:p>
        </p:txBody>
      </p:sp>
      <p:sp>
        <p:nvSpPr>
          <p:cNvPr id="11" name="Text 9"/>
          <p:cNvSpPr/>
          <p:nvPr/>
        </p:nvSpPr>
        <p:spPr>
          <a:xfrm>
            <a:off x="3557016" y="2286000"/>
            <a:ext cx="2176272" cy="1005840"/>
          </a:xfrm>
          <a:prstGeom prst="rect">
            <a:avLst/>
          </a:prstGeom>
          <a:noFill/>
          <a:ln/>
        </p:spPr>
        <p:txBody>
          <a:bodyPr wrap="square" lIns="0" tIns="0" rIns="0" bIns="0" rtlCol="0" anchor="ctr"/>
          <a:lstStyle/>
          <a:p>
            <a:pPr indent="0" marL="0">
              <a:lnSpc>
                <a:spcPts val="1500"/>
              </a:lnSpc>
              <a:buNone/>
            </a:pPr>
            <a:r>
              <a:rPr lang="en-US" sz="1100" dirty="0">
                <a:solidFill>
                  <a:srgbClr val="FFFFFF"/>
                </a:solidFill>
                <a:latin typeface="Calibri" pitchFamily="34" charset="0"/>
                <a:ea typeface="Calibri" pitchFamily="34" charset="-122"/>
                <a:cs typeface="Calibri" pitchFamily="34" charset="-120"/>
              </a:rPr>
              <a:t>Complete benefits-manager transition; run payroll fire-drill with the new contact.</a:t>
            </a:r>
            <a:endParaRPr lang="en-US" sz="1100" dirty="0"/>
          </a:p>
        </p:txBody>
      </p:sp>
      <p:sp>
        <p:nvSpPr>
          <p:cNvPr id="12" name="Shape 10"/>
          <p:cNvSpPr/>
          <p:nvPr/>
        </p:nvSpPr>
        <p:spPr>
          <a:xfrm>
            <a:off x="6117336" y="1783080"/>
            <a:ext cx="2542032" cy="1627632"/>
          </a:xfrm>
          <a:prstGeom prst="rect">
            <a:avLst/>
          </a:prstGeom>
          <a:solidFill>
            <a:srgbClr val="27337A"/>
          </a:solidFill>
          <a:ln/>
        </p:spPr>
      </p:sp>
      <p:sp>
        <p:nvSpPr>
          <p:cNvPr id="13" name="Shape 11"/>
          <p:cNvSpPr/>
          <p:nvPr/>
        </p:nvSpPr>
        <p:spPr>
          <a:xfrm>
            <a:off x="6117336" y="1783080"/>
            <a:ext cx="2542032" cy="64008"/>
          </a:xfrm>
          <a:prstGeom prst="rect">
            <a:avLst/>
          </a:prstGeom>
          <a:solidFill>
            <a:srgbClr val="CADCFC"/>
          </a:solidFill>
          <a:ln/>
        </p:spPr>
      </p:sp>
      <p:sp>
        <p:nvSpPr>
          <p:cNvPr id="14" name="Text 12"/>
          <p:cNvSpPr/>
          <p:nvPr/>
        </p:nvSpPr>
        <p:spPr>
          <a:xfrm>
            <a:off x="6318504" y="1956816"/>
            <a:ext cx="2103120" cy="274320"/>
          </a:xfrm>
          <a:prstGeom prst="rect">
            <a:avLst/>
          </a:prstGeom>
          <a:noFill/>
          <a:ln/>
        </p:spPr>
        <p:txBody>
          <a:bodyPr wrap="square" lIns="0" tIns="0" rIns="0" bIns="0" rtlCol="0" anchor="ctr"/>
          <a:lstStyle/>
          <a:p>
            <a:pPr indent="0" marL="0">
              <a:buNone/>
            </a:pPr>
            <a:r>
              <a:rPr lang="en-US" sz="1250" b="1" spc="250" kern="0" dirty="0">
                <a:solidFill>
                  <a:srgbClr val="CADCFC"/>
                </a:solidFill>
                <a:latin typeface="Calibri" pitchFamily="34" charset="0"/>
                <a:ea typeface="Calibri" pitchFamily="34" charset="-122"/>
                <a:cs typeface="Calibri" pitchFamily="34" charset="-120"/>
              </a:rPr>
              <a:t>90 DAYS</a:t>
            </a:r>
            <a:endParaRPr lang="en-US" sz="1250" dirty="0"/>
          </a:p>
        </p:txBody>
      </p:sp>
      <p:sp>
        <p:nvSpPr>
          <p:cNvPr id="15" name="Text 13"/>
          <p:cNvSpPr/>
          <p:nvPr/>
        </p:nvSpPr>
        <p:spPr>
          <a:xfrm>
            <a:off x="6318504" y="2286000"/>
            <a:ext cx="2176272" cy="1005840"/>
          </a:xfrm>
          <a:prstGeom prst="rect">
            <a:avLst/>
          </a:prstGeom>
          <a:noFill/>
          <a:ln/>
        </p:spPr>
        <p:txBody>
          <a:bodyPr wrap="square" lIns="0" tIns="0" rIns="0" bIns="0" rtlCol="0" anchor="ctr"/>
          <a:lstStyle/>
          <a:p>
            <a:pPr indent="0" marL="0">
              <a:lnSpc>
                <a:spcPts val="1500"/>
              </a:lnSpc>
              <a:buNone/>
            </a:pPr>
            <a:r>
              <a:rPr lang="en-US" sz="1100" dirty="0">
                <a:solidFill>
                  <a:srgbClr val="FFFFFF"/>
                </a:solidFill>
                <a:latin typeface="Calibri" pitchFamily="34" charset="0"/>
                <a:ea typeface="Calibri" pitchFamily="34" charset="-122"/>
                <a:cs typeface="Calibri" pitchFamily="34" charset="-120"/>
              </a:rPr>
              <a:t>Deliver steady-state handoff gate and first ongoing-service committee review.</a:t>
            </a:r>
            <a:endParaRPr lang="en-US" sz="1100" dirty="0"/>
          </a:p>
        </p:txBody>
      </p:sp>
      <p:sp>
        <p:nvSpPr>
          <p:cNvPr id="16" name="Text 14"/>
          <p:cNvSpPr/>
          <p:nvPr/>
        </p:nvSpPr>
        <p:spPr>
          <a:xfrm>
            <a:off x="594360" y="3703320"/>
            <a:ext cx="7955280" cy="685800"/>
          </a:xfrm>
          <a:prstGeom prst="rect">
            <a:avLst/>
          </a:prstGeom>
          <a:noFill/>
          <a:ln/>
        </p:spPr>
        <p:txBody>
          <a:bodyPr wrap="square" lIns="0" tIns="0" rIns="0" bIns="0" rtlCol="0" anchor="ctr"/>
          <a:lstStyle/>
          <a:p>
            <a:pPr indent="0" marL="0">
              <a:lnSpc>
                <a:spcPts val="1700"/>
              </a:lnSpc>
              <a:buNone/>
            </a:pPr>
            <a:r>
              <a:rPr lang="en-US" sz="1200" b="1" dirty="0">
                <a:solidFill>
                  <a:srgbClr val="CADCFC"/>
                </a:solidFill>
                <a:latin typeface="Calibri" pitchFamily="34" charset="0"/>
                <a:ea typeface="Calibri" pitchFamily="34" charset="-122"/>
                <a:cs typeface="Calibri" pitchFamily="34" charset="-120"/>
              </a:rPr>
              <a:t>Lessons learned:  </a:t>
            </a:r>
            <a:pPr indent="0" marL="0">
              <a:lnSpc>
                <a:spcPts val="1700"/>
              </a:lnSpc>
              <a:buNone/>
            </a:pPr>
            <a:r>
              <a:rPr lang="en-US" sz="1200" dirty="0">
                <a:solidFill>
                  <a:srgbClr val="D8E4FA"/>
                </a:solidFill>
                <a:latin typeface="Calibri" pitchFamily="34" charset="0"/>
                <a:ea typeface="Calibri" pitchFamily="34" charset="-122"/>
                <a:cs typeface="Calibri" pitchFamily="34" charset="-120"/>
              </a:rPr>
              <a:t>start payroll-file testing six weeks earlier than the plan calls for; assign a named backup for every client contact; and put vendor contracts on the critical path from day one.</a:t>
            </a:r>
            <a:endParaRPr lang="en-US" sz="1200" dirty="0"/>
          </a:p>
        </p:txBody>
      </p:sp>
      <p:sp>
        <p:nvSpPr>
          <p:cNvPr id="17" name="Text 15"/>
          <p:cNvSpPr/>
          <p:nvPr/>
        </p:nvSpPr>
        <p:spPr>
          <a:xfrm>
            <a:off x="594360" y="4590288"/>
            <a:ext cx="5486400" cy="274320"/>
          </a:xfrm>
          <a:prstGeom prst="rect">
            <a:avLst/>
          </a:prstGeom>
          <a:noFill/>
          <a:ln/>
        </p:spPr>
        <p:txBody>
          <a:bodyPr wrap="square" lIns="0" tIns="0" rIns="0" bIns="0" rtlCol="0" anchor="ctr"/>
          <a:lstStyle/>
          <a:p>
            <a:pPr indent="0" marL="0">
              <a:buNone/>
            </a:pPr>
            <a:r>
              <a:rPr lang="en-US" sz="1050" dirty="0">
                <a:solidFill>
                  <a:srgbClr val="9FBEE8"/>
                </a:solidFill>
                <a:latin typeface="Calibri" pitchFamily="34" charset="0"/>
                <a:ea typeface="Calibri" pitchFamily="34" charset="-122"/>
                <a:cs typeface="Calibri" pitchFamily="34" charset="-120"/>
              </a:rPr>
              <a:t>Questions →  transition-team@example.com</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Executive Handoff Summary — Meridian Manufacturing 401(k)</dc:title>
  <dc:subject>PptxGenJS Presentation</dc:subject>
  <dc:creator>PptxGenJS</dc:creator>
  <cp:lastModifiedBy>PptxGenJS</cp:lastModifiedBy>
  <cp:revision>1</cp:revision>
  <dcterms:created xsi:type="dcterms:W3CDTF">2026-07-15T19:03:01Z</dcterms:created>
  <dcterms:modified xsi:type="dcterms:W3CDTF">2026-07-15T19:03:01Z</dcterms:modified>
</cp:coreProperties>
</file>