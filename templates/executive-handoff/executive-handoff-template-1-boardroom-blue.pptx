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-boardroom-blue-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822960"/>
            <a:ext cx="5212080" cy="5212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22960" y="1874519"/>
            <a:ext cx="1463040" cy="50800"/>
          </a:xfrm>
          <a:prstGeom prst="rect">
            <a:avLst/>
          </a:prstGeom>
          <a:solidFill>
            <a:srgbClr val="1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6035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Executive Handoff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1">
                <a:solidFill>
                  <a:srgbClr val="8CB2D9"/>
                </a:solidFill>
                <a:latin typeface="Calibri"/>
              </a:rPr>
              <a:t>[Plan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E1E1E1"/>
                </a:solidFill>
                <a:latin typeface="Calibri"/>
              </a:rPr>
              <a:t>Overview of the Corporate Retirement Plan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8C8C8"/>
                </a:solidFill>
                <a:latin typeface="Calibri"/>
              </a:rPr>
              <a:t>[Presenter Name]  •  [Date]  •  Transamerica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BF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Executive Overview</a:t>
            </a:r>
          </a:p>
        </p:txBody>
      </p:sp>
      <p:pic>
        <p:nvPicPr>
          <p:cNvPr id="6" name="Picture 5" descr="1-boardroom-blue--executiv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[One-paragraph executive summary of the plan transition]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[Business context: why this handoff is happening now]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[Headline outcomes achieved to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[What the incoming owner needs to know first]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97D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97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BF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Project Status</a:t>
            </a:r>
          </a:p>
        </p:txBody>
      </p:sp>
      <p:pic>
        <p:nvPicPr>
          <p:cNvPr id="6" name="Picture 5" descr="1-boardroom-blue--project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[Current status: On Track / At Risk / Off Track]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[Percent complete and current phase]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[Work completed this period]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[Work planned for next period]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97D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97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BF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Project Scope</a:t>
            </a:r>
          </a:p>
        </p:txBody>
      </p:sp>
      <p:pic>
        <p:nvPicPr>
          <p:cNvPr id="6" name="Picture 5" descr="1-boardroom-blue--project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[In scope: services, plans, and populations covered]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[Out of scope: explicitly excluded items]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[Key assumptions and dependencies]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[Approved scope changes to date]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97D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97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BF"/>
                </a:solidFill>
                <a:latin typeface="Calibri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Milestones</a:t>
            </a:r>
          </a:p>
        </p:txBody>
      </p:sp>
      <p:pic>
        <p:nvPicPr>
          <p:cNvPr id="6" name="Picture 5" descr="1-boardroom-blue--milest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[Milestone 1 — target date — status]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[Milestone 2 — target date — status]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[Milestone 3 — target date — status]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[Milestone 4 — target date — status]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97D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97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BF"/>
                </a:solidFill>
                <a:latin typeface="Calibr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Work Stream Status</a:t>
            </a:r>
          </a:p>
        </p:txBody>
      </p:sp>
      <p:pic>
        <p:nvPicPr>
          <p:cNvPr id="6" name="Picture 5" descr="1-boardroom-blue--work-stream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[Work stream A — owner — status — next step]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[Work stream B — owner — status — next step]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[Work stream C — owner — status — next step]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[Work stream D — owner — status — next step]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97D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97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BF"/>
                </a:solidFill>
                <a:latin typeface="Calibri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Major Decisions</a:t>
            </a:r>
          </a:p>
        </p:txBody>
      </p:sp>
      <p:pic>
        <p:nvPicPr>
          <p:cNvPr id="6" name="Picture 5" descr="1-boardroom-blue--major-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[Decision 1 — date — decision maker — rationale]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[Decision 2 — date — decision maker — rationale]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[Decision 3 — date — decision maker — rationale]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[Open decisions awaiting resolution]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97D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97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BF"/>
                </a:solidFill>
                <a:latin typeface="Calibri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Risk Overview</a:t>
            </a:r>
          </a:p>
        </p:txBody>
      </p:sp>
      <p:pic>
        <p:nvPicPr>
          <p:cNvPr id="6" name="Picture 5" descr="1-boardroom-blue--risk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[Risk 1 — likelihood / impact — mitigation — owner]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[Risk 2 — likelihood / impact — mitigation — owner]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[Risk 3 — likelihood / impact — mitigation — owner]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[Escalation path for new risks]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97D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97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BF"/>
                </a:solidFill>
                <a:latin typeface="Calibri"/>
              </a:rP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Stakeholder Review</a:t>
            </a:r>
          </a:p>
        </p:txBody>
      </p:sp>
      <p:pic>
        <p:nvPicPr>
          <p:cNvPr id="6" name="Picture 5" descr="1-boardroom-blue--stakeholder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[Stakeholder / team — role in the plan — engagement level]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[Key contacts and communication cadence]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[Outstanding stakeholder concerns]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[Approvals and sign-offs received]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97D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97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BF"/>
                </a:solidFill>
                <a:latin typeface="Calibri"/>
              </a:rPr>
              <a:t>SECTION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Immediate Priorities</a:t>
            </a:r>
          </a:p>
        </p:txBody>
      </p:sp>
      <p:pic>
        <p:nvPicPr>
          <p:cNvPr id="6" name="Picture 5" descr="1-boardroom-blue--immediate-prior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[Priority 1 — owner — due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[Priority 2 — owner — due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[Priority 3 — owner — due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[First 30 / 60 / 90 day focus]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97D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97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F6FBF"/>
                </a:solidFill>
                <a:latin typeface="Calibri"/>
              </a:rP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Calibri"/>
              </a:rPr>
              <a:t>Lessons Learned</a:t>
            </a:r>
          </a:p>
        </p:txBody>
      </p:sp>
      <p:pic>
        <p:nvPicPr>
          <p:cNvPr id="6" name="Picture 5" descr="1-boardroom-blue--lessons-lear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E2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[What worked well and should be repeated]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[What did not work and why]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[Process improvements recommended]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[Advice for the next plan transition]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A697D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697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