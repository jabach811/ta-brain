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 ($M)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'27</c:v>
                  </c:pt>
                  <c:pt idx="1">
                    <c:v>Q2 '27</c:v>
                  </c:pt>
                  <c:pt idx="2">
                    <c:v>Q3 '27</c:v>
                  </c:pt>
                  <c:pt idx="3">
                    <c:v>Q4 '27</c:v>
                  </c:pt>
                  <c:pt idx="4">
                    <c:v>Q1 '28</c:v>
                  </c:pt>
                  <c:pt idx="5">
                    <c:v>Q2 '28</c:v>
                  </c:pt>
                  <c:pt idx="6">
                    <c:v>Q3 '28</c:v>
                  </c:pt>
                  <c:pt idx="7">
                    <c:v>Q4 '28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45</c:v>
                </c:pt>
                <c:pt idx="2">
                  <c:v>88</c:v>
                </c:pt>
                <c:pt idx="3">
                  <c:v>150</c:v>
                </c:pt>
                <c:pt idx="4">
                  <c:v>215</c:v>
                </c:pt>
                <c:pt idx="5">
                  <c:v>300</c:v>
                </c:pt>
                <c:pt idx="6">
                  <c:v>395</c:v>
                </c:pt>
                <c:pt idx="7">
                  <c:v>505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Conservative ($M)</c:v>
                </c:pt>
              </c:strCache>
            </c:strRef>
          </c:tx>
          <c:spPr>
            <a:solidFill>
              <a:srgbClr val="2F3C7E"/>
            </a:solidFill>
            <a:ln w="38100" cap="flat">
              <a:solidFill>
                <a:srgbClr val="2F3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3C7E"/>
              </a:solidFill>
              <a:ln w="9525" cap="flat">
                <a:solidFill>
                  <a:srgbClr val="2F3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'27</c:v>
                  </c:pt>
                  <c:pt idx="1">
                    <c:v>Q2 '27</c:v>
                  </c:pt>
                  <c:pt idx="2">
                    <c:v>Q3 '27</c:v>
                  </c:pt>
                  <c:pt idx="3">
                    <c:v>Q4 '27</c:v>
                  </c:pt>
                  <c:pt idx="4">
                    <c:v>Q1 '28</c:v>
                  </c:pt>
                  <c:pt idx="5">
                    <c:v>Q2 '28</c:v>
                  </c:pt>
                  <c:pt idx="6">
                    <c:v>Q3 '28</c:v>
                  </c:pt>
                  <c:pt idx="7">
                    <c:v>Q4 '28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24</c:v>
                </c:pt>
                <c:pt idx="2">
                  <c:v>48</c:v>
                </c:pt>
                <c:pt idx="3">
                  <c:v>82</c:v>
                </c:pt>
                <c:pt idx="4">
                  <c:v>125</c:v>
                </c:pt>
                <c:pt idx="5">
                  <c:v>175</c:v>
                </c:pt>
                <c:pt idx="6">
                  <c:v>235</c:v>
                </c:pt>
                <c:pt idx="7">
                  <c:v>300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07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6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0789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</c:dPt>
          <c:dPt>
            <c:idx val="3"/>
            <c:bubble3D val="0"/>
            <c:spPr>
              <a:solidFill>
                <a:srgbClr val="9AA5D1"/>
              </a:solidFill>
              <a:effectLst/>
            </c:spPr>
          </c:dPt>
          <c:dPt>
            <c:idx val="4"/>
            <c:bubble3D val="0"/>
            <c:spPr>
              <a:solidFill>
                <a:srgbClr val="FDD5D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Advisor enablement</c:v>
                </c:pt>
                <c:pt idx="1">
                  <c:v>Sponsor campaigns</c:v>
                </c:pt>
                <c:pt idx="2">
                  <c:v>Participant education</c:v>
                </c:pt>
                <c:pt idx="3">
                  <c:v>PR &amp; analyst</c:v>
                </c:pt>
                <c:pt idx="4">
                  <c:v>Tooling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</c:v>
                </c:pt>
                <c:pt idx="1">
                  <c:v>26</c:v>
                </c:pt>
                <c:pt idx="2">
                  <c:v>22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78992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789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LAUNCH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SecurePath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3101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retirement income inside the 401(k) — go-to-market plan for the January 2027 window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370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Distribution  · 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217420" cy="292608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217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Retirees want a paycheck, not a pot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$1.6T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out of DC plans every year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4630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47872" y="2542032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participants want guaranteed income options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35624" y="14630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3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in 10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64224" y="2542032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evaluating in-plan income for 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holds $2.4B for participants over 55 — and today every dollar of it must leave to buy an income product. SecurePath keeps those assets, and those participants, in plan.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85632" y="470001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736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LAUNCH PLAN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760220" cy="292608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things SecurePath does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319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719072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869948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16276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Guaranteed paycheck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90472" y="1956816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balances into lifetime income at retirement — 5.1% initial payout at 65, insured by two carriers.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27448" y="1463040"/>
            <a:ext cx="39319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46904" y="1719072"/>
            <a:ext cx="603504" cy="60350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869948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6276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Glide-path native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15000" y="1956816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inside the target-date fund; participants build income units automatically from age 50.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035808"/>
            <a:ext cx="39319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2376" y="3291840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442716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90472" y="320040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 &amp; liquid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90472" y="3529584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balance stays daily-liquid until income starts; participants keep it if they change jobs.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27448" y="3035808"/>
            <a:ext cx="39319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46904" y="3291840"/>
            <a:ext cx="603504" cy="60350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442716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20040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Zero-friction enrollment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15000" y="3529584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Default-eligible design — sponsors can adopt it as the QDIA with one amendment.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485632" y="470001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0"/>
          <p:cNvSpPr/>
          <p:nvPr/>
        </p:nvSpPr>
        <p:spPr>
          <a:xfrm>
            <a:off x="84856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4736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LAUNCH PLAN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217420" cy="292608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217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buyers, one product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682496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84251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" y="24871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plan sponsors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22376" y="2852928"/>
            <a:ext cx="2212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 under fiduciary pressure to offer income. Lead with the insured-carrier structure and QDIA-ready design.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" y="4041648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11" name="Text 8"/>
          <p:cNvSpPr/>
          <p:nvPr/>
        </p:nvSpPr>
        <p:spPr>
          <a:xfrm>
            <a:off x="722376" y="40416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PLANS &gt; $50M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19272" y="14630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8728" y="1682496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1842516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24871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Retirement advisors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38728" y="2852928"/>
            <a:ext cx="2212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keep AUM that today rolls away. Lead with participant retention data and the advisor dashboard.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538728" y="4041648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18" name="Text 14"/>
          <p:cNvSpPr/>
          <p:nvPr/>
        </p:nvSpPr>
        <p:spPr>
          <a:xfrm>
            <a:off x="3538728" y="40416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60 ADVISOR TEAMS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135624" y="14630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1682496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842516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24871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Pooled-plan employers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355080" y="2852928"/>
            <a:ext cx="2212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employers get institutional pricing through the PEP. Income becomes the differentiator against payroll-provider plans.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355080" y="4041648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25" name="Text 20"/>
          <p:cNvSpPr/>
          <p:nvPr/>
        </p:nvSpPr>
        <p:spPr>
          <a:xfrm>
            <a:off x="6355080" y="40416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PEP ADOPTERS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8485632" y="470001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2"/>
          <p:cNvSpPr/>
          <p:nvPr/>
        </p:nvSpPr>
        <p:spPr>
          <a:xfrm>
            <a:off x="84856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02920" y="4736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LAUNCH PLAN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months from filing to first dollar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51560" y="2834640"/>
            <a:ext cx="7040880" cy="0"/>
          </a:xfrm>
          <a:prstGeom prst="line">
            <a:avLst/>
          </a:prstGeom>
          <a:noFill/>
          <a:ln w="31750">
            <a:solidFill>
              <a:srgbClr val="E5D9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679192"/>
            <a:ext cx="310896" cy="310896"/>
          </a:xfrm>
          <a:prstGeom prst="ellipse">
            <a:avLst/>
          </a:prstGeom>
          <a:solidFill>
            <a:srgbClr val="F96167"/>
          </a:solidFill>
          <a:ln w="28575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865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contracts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2880" y="1591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92908" y="271576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3C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3100" y="3054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43100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53128" y="271576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865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preview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1591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3348" y="271576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3C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3540" y="3054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roadshow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63540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73568" y="271576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3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865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enrollments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1591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88720" y="41605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gate: filing approval by October 15 keeps the January QDIA window. Miss it and launch moves to the July 2027 cycle.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85632" y="470001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84856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LAUNCH PLAN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31620" cy="292608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531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buy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3931920" cy="60350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4630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84248" y="1463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target-date QDIA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units accrue automatically from age 50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participant action required — default design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bps all-in on income-allocated assets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auto-enroll plans, low engagement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46304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463040"/>
            <a:ext cx="3931920" cy="60350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4630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08776" y="1463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menu option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01768" y="2267712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opt in from age 45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Advisor-assisted allocation with modeling tools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bps with advisor service layer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advisor-driven and high-touch plans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85632" y="470001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736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LAUNCH PLAN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$500M in income assets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417320"/>
          <a:ext cx="55778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481328"/>
            <a:ext cx="2377440" cy="877824"/>
          </a:xfrm>
          <a:prstGeom prst="roundRect">
            <a:avLst>
              <a:gd name="adj" fmla="val 1041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73952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$505M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73952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income assets by end of 2028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63640" y="2505456"/>
            <a:ext cx="23774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73952" y="25968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73952" y="2962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adopted across both packages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63640" y="3529584"/>
            <a:ext cx="23774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73952" y="3621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$2.1M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73952" y="3986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revenue at 40 bps blended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485632" y="470001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84856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4736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LAUNCH PLAN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988820" cy="292608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launch budget goes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3716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60520" y="1572768"/>
            <a:ext cx="530352" cy="53035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108" y="1705356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0" y="15544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Advisor enablement — 34%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846320" y="184708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events, modeling tools, and a certification sprint for the top 60 teams.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160520" y="254203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08" y="2674620"/>
            <a:ext cx="265176" cy="2651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46320" y="25237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Sponsor campaigns — 26%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846320" y="281635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Fiduciary-focused content series plus the November roadshow in six cities.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160520" y="3511296"/>
            <a:ext cx="530352" cy="530352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3643884"/>
            <a:ext cx="265176" cy="2651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46320" y="34930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 education — 22%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846320" y="378561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In-plan messaging, retirement-paycheck calculator, and enrollment meetings.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485632" y="470001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3"/>
          <p:cNvSpPr/>
          <p:nvPr/>
        </p:nvSpPr>
        <p:spPr>
          <a:xfrm>
            <a:off x="84856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02920" y="4736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LAUNCH PLAN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31620" cy="292608"/>
          </a:xfrm>
          <a:prstGeom prst="roundRect">
            <a:avLst>
              <a:gd name="adj" fmla="val 50000"/>
            </a:avLst>
          </a:prstGeom>
          <a:solidFill>
            <a:srgbClr val="FDD5D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531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OPEN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could stall the launch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91440" cy="9326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270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Filing slips past Oct 15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11880" y="150876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slides two full quarters to the next QDIA window.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172200" y="15087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counsel check-ins; pre-cleared responses for the two likely comment areas.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2920" y="2496312"/>
            <a:ext cx="8138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96312"/>
            <a:ext cx="91440" cy="93268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Carrier capacity pulls back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258775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guarantee drops below 5% and the headline weakens.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172200" y="2587752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carrier signed for 40% of capacity; rate floor locked through March.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920" y="3575304"/>
            <a:ext cx="81381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575304"/>
            <a:ext cx="91440" cy="932688"/>
          </a:xfrm>
          <a:prstGeom prst="rect">
            <a:avLst/>
          </a:prstGeom>
          <a:solidFill>
            <a:srgbClr val="2A33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Advisors position it as competition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3666744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teams see in-plan income as a rollover threat.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172200" y="3666744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2A3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dashboard shows retained AUM; revenue share on income assets.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485632" y="470001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848563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736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0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LAUNCH PLAN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85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10058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Green-light the January window.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2651760"/>
            <a:ext cx="310896" cy="31089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$2.8M launch budget at the August investment committee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73552"/>
            <a:ext cx="310896" cy="31089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32278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top-60 advisor teams to October certification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895344"/>
            <a:ext cx="310896" cy="31089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3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84962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 for the carrier relationship by August 1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  ·  Product &amp; Distribution  · 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SecurePath Income — Launch Plan</dc:title>
  <dc:subject>PptxGenJS Presentation</dc:subject>
  <dc:creator>PptxGenJS</dc:creator>
  <cp:lastModifiedBy>PptxGenJS</cp:lastModifiedBy>
  <cp:revision>1</cp:revision>
  <dcterms:created xsi:type="dcterms:W3CDTF">2026-07-15T19:03:02Z</dcterms:created>
  <dcterms:modified xsi:type="dcterms:W3CDTF">2026-07-15T19:03:02Z</dcterms:modified>
</cp:coreProperties>
</file>